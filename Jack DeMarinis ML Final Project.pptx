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8"/>
  </p:notesMasterIdLst>
  <p:sldIdLst>
    <p:sldId id="256" r:id="rId2"/>
    <p:sldId id="268" r:id="rId3"/>
    <p:sldId id="267" r:id="rId4"/>
    <p:sldId id="272" r:id="rId5"/>
    <p:sldId id="273" r:id="rId6"/>
    <p:sldId id="274" r:id="rId7"/>
    <p:sldId id="269" r:id="rId8"/>
    <p:sldId id="275" r:id="rId9"/>
    <p:sldId id="270" r:id="rId10"/>
    <p:sldId id="271" r:id="rId11"/>
    <p:sldId id="276" r:id="rId12"/>
    <p:sldId id="277" r:id="rId13"/>
    <p:sldId id="281" r:id="rId14"/>
    <p:sldId id="279" r:id="rId15"/>
    <p:sldId id="280"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06242D-1B05-4472-9185-86A7D287E41A}" v="32" dt="2025-12-02T05:39:57.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87" autoAdjust="0"/>
    <p:restoredTop sz="74279" autoAdjust="0"/>
  </p:normalViewPr>
  <p:slideViewPr>
    <p:cSldViewPr snapToGrid="0">
      <p:cViewPr varScale="1">
        <p:scale>
          <a:sx n="116" d="100"/>
          <a:sy n="116" d="100"/>
        </p:scale>
        <p:origin x="10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86B96C-B2BD-407F-ADC0-B6EE23AAE0E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3013E473-2E72-478C-9B09-EC0BE3864082}">
      <dgm:prSet/>
      <dgm:spPr/>
      <dgm:t>
        <a:bodyPr/>
        <a:lstStyle/>
        <a:p>
          <a:r>
            <a:rPr lang="en-US" dirty="0"/>
            <a:t>Binary talking/not-talking classifier</a:t>
          </a:r>
        </a:p>
      </dgm:t>
    </dgm:pt>
    <dgm:pt modelId="{BF0CA2C3-F221-4D88-94EA-872A42E34443}" type="parTrans" cxnId="{549459BB-EAC9-402B-9D1C-0A5DDA3622FE}">
      <dgm:prSet/>
      <dgm:spPr/>
      <dgm:t>
        <a:bodyPr/>
        <a:lstStyle/>
        <a:p>
          <a:endParaRPr lang="en-US"/>
        </a:p>
      </dgm:t>
    </dgm:pt>
    <dgm:pt modelId="{F534C2E7-0D01-45A1-8A3F-CB6C9B2604E7}" type="sibTrans" cxnId="{549459BB-EAC9-402B-9D1C-0A5DDA3622FE}">
      <dgm:prSet/>
      <dgm:spPr/>
      <dgm:t>
        <a:bodyPr/>
        <a:lstStyle/>
        <a:p>
          <a:endParaRPr lang="en-US"/>
        </a:p>
      </dgm:t>
    </dgm:pt>
    <dgm:pt modelId="{313B56FA-02DB-4E1D-91A6-FA8FF5A9F4B1}">
      <dgm:prSet/>
      <dgm:spPr/>
      <dgm:t>
        <a:bodyPr/>
        <a:lstStyle/>
        <a:p>
          <a:r>
            <a:rPr lang="en-US" dirty="0"/>
            <a:t>Facial-landmark feature pipeline</a:t>
          </a:r>
        </a:p>
      </dgm:t>
    </dgm:pt>
    <dgm:pt modelId="{C75152D6-3446-4BC3-95B4-810C1E226488}" type="parTrans" cxnId="{0C4881DD-45FF-467F-8C81-D1D1914EF23E}">
      <dgm:prSet/>
      <dgm:spPr/>
      <dgm:t>
        <a:bodyPr/>
        <a:lstStyle/>
        <a:p>
          <a:endParaRPr lang="en-US"/>
        </a:p>
      </dgm:t>
    </dgm:pt>
    <dgm:pt modelId="{88A5042E-30FB-4624-89F1-00AE124AA600}" type="sibTrans" cxnId="{0C4881DD-45FF-467F-8C81-D1D1914EF23E}">
      <dgm:prSet/>
      <dgm:spPr/>
      <dgm:t>
        <a:bodyPr/>
        <a:lstStyle/>
        <a:p>
          <a:endParaRPr lang="en-US"/>
        </a:p>
      </dgm:t>
    </dgm:pt>
    <dgm:pt modelId="{68DD9CD6-726F-4089-8C2A-8546C0E47CEF}">
      <dgm:prSet/>
      <dgm:spPr/>
      <dgm:t>
        <a:bodyPr/>
        <a:lstStyle/>
        <a:p>
          <a:r>
            <a:rPr lang="en-US"/>
            <a:t>Custom NumPy neural network</a:t>
          </a:r>
        </a:p>
      </dgm:t>
    </dgm:pt>
    <dgm:pt modelId="{6367A076-7997-4E2C-A3AE-6C278CC343B8}" type="parTrans" cxnId="{0AC3C401-0D81-4A9D-A6B0-CE71A01A201E}">
      <dgm:prSet/>
      <dgm:spPr/>
      <dgm:t>
        <a:bodyPr/>
        <a:lstStyle/>
        <a:p>
          <a:endParaRPr lang="en-US"/>
        </a:p>
      </dgm:t>
    </dgm:pt>
    <dgm:pt modelId="{693A5C6A-82D7-49F2-837B-82D81758C186}" type="sibTrans" cxnId="{0AC3C401-0D81-4A9D-A6B0-CE71A01A201E}">
      <dgm:prSet/>
      <dgm:spPr/>
      <dgm:t>
        <a:bodyPr/>
        <a:lstStyle/>
        <a:p>
          <a:endParaRPr lang="en-US"/>
        </a:p>
      </dgm:t>
    </dgm:pt>
    <dgm:pt modelId="{A617E17E-72A3-4B62-BE7D-583C847D4B98}">
      <dgm:prSet/>
      <dgm:spPr/>
      <dgm:t>
        <a:bodyPr/>
        <a:lstStyle/>
        <a:p>
          <a:r>
            <a:rPr lang="en-US"/>
            <a:t>Real-time CPU inference</a:t>
          </a:r>
        </a:p>
      </dgm:t>
    </dgm:pt>
    <dgm:pt modelId="{6D981538-A060-4204-BE50-031CABDA4D1B}" type="parTrans" cxnId="{6023795F-1DE8-4604-94CD-4DB6C15184AD}">
      <dgm:prSet/>
      <dgm:spPr/>
      <dgm:t>
        <a:bodyPr/>
        <a:lstStyle/>
        <a:p>
          <a:endParaRPr lang="en-US"/>
        </a:p>
      </dgm:t>
    </dgm:pt>
    <dgm:pt modelId="{0D51CCC3-F0DE-4794-95FB-7D4A39DF46CD}" type="sibTrans" cxnId="{6023795F-1DE8-4604-94CD-4DB6C15184AD}">
      <dgm:prSet/>
      <dgm:spPr/>
      <dgm:t>
        <a:bodyPr/>
        <a:lstStyle/>
        <a:p>
          <a:endParaRPr lang="en-US"/>
        </a:p>
      </dgm:t>
    </dgm:pt>
    <dgm:pt modelId="{D0351046-F7BD-5648-A9E0-1F596455D601}" type="pres">
      <dgm:prSet presAssocID="{2986B96C-B2BD-407F-ADC0-B6EE23AAE0EC}" presName="linear" presStyleCnt="0">
        <dgm:presLayoutVars>
          <dgm:animLvl val="lvl"/>
          <dgm:resizeHandles val="exact"/>
        </dgm:presLayoutVars>
      </dgm:prSet>
      <dgm:spPr/>
    </dgm:pt>
    <dgm:pt modelId="{1E68409A-3853-C944-B400-78B0D1B24018}" type="pres">
      <dgm:prSet presAssocID="{3013E473-2E72-478C-9B09-EC0BE3864082}" presName="parentText" presStyleLbl="node1" presStyleIdx="0" presStyleCnt="4">
        <dgm:presLayoutVars>
          <dgm:chMax val="0"/>
          <dgm:bulletEnabled val="1"/>
        </dgm:presLayoutVars>
      </dgm:prSet>
      <dgm:spPr/>
    </dgm:pt>
    <dgm:pt modelId="{CEC9B73F-3303-8B46-8A00-B4EC3F6E7B4E}" type="pres">
      <dgm:prSet presAssocID="{F534C2E7-0D01-45A1-8A3F-CB6C9B2604E7}" presName="spacer" presStyleCnt="0"/>
      <dgm:spPr/>
    </dgm:pt>
    <dgm:pt modelId="{CDCC02D8-D86F-FA4B-B28C-525418B634B2}" type="pres">
      <dgm:prSet presAssocID="{313B56FA-02DB-4E1D-91A6-FA8FF5A9F4B1}" presName="parentText" presStyleLbl="node1" presStyleIdx="1" presStyleCnt="4">
        <dgm:presLayoutVars>
          <dgm:chMax val="0"/>
          <dgm:bulletEnabled val="1"/>
        </dgm:presLayoutVars>
      </dgm:prSet>
      <dgm:spPr/>
    </dgm:pt>
    <dgm:pt modelId="{41D796E0-22CA-0942-BB88-E070DE651F68}" type="pres">
      <dgm:prSet presAssocID="{88A5042E-30FB-4624-89F1-00AE124AA600}" presName="spacer" presStyleCnt="0"/>
      <dgm:spPr/>
    </dgm:pt>
    <dgm:pt modelId="{446D138A-13B2-1D4F-A42B-B960140B352D}" type="pres">
      <dgm:prSet presAssocID="{68DD9CD6-726F-4089-8C2A-8546C0E47CEF}" presName="parentText" presStyleLbl="node1" presStyleIdx="2" presStyleCnt="4">
        <dgm:presLayoutVars>
          <dgm:chMax val="0"/>
          <dgm:bulletEnabled val="1"/>
        </dgm:presLayoutVars>
      </dgm:prSet>
      <dgm:spPr/>
    </dgm:pt>
    <dgm:pt modelId="{3606BF3A-2A5A-664B-83BB-E3F49D4BC522}" type="pres">
      <dgm:prSet presAssocID="{693A5C6A-82D7-49F2-837B-82D81758C186}" presName="spacer" presStyleCnt="0"/>
      <dgm:spPr/>
    </dgm:pt>
    <dgm:pt modelId="{629B3E89-ACBD-4A44-8582-35F6698609A0}" type="pres">
      <dgm:prSet presAssocID="{A617E17E-72A3-4B62-BE7D-583C847D4B98}" presName="parentText" presStyleLbl="node1" presStyleIdx="3" presStyleCnt="4">
        <dgm:presLayoutVars>
          <dgm:chMax val="0"/>
          <dgm:bulletEnabled val="1"/>
        </dgm:presLayoutVars>
      </dgm:prSet>
      <dgm:spPr/>
    </dgm:pt>
  </dgm:ptLst>
  <dgm:cxnLst>
    <dgm:cxn modelId="{0AC3C401-0D81-4A9D-A6B0-CE71A01A201E}" srcId="{2986B96C-B2BD-407F-ADC0-B6EE23AAE0EC}" destId="{68DD9CD6-726F-4089-8C2A-8546C0E47CEF}" srcOrd="2" destOrd="0" parTransId="{6367A076-7997-4E2C-A3AE-6C278CC343B8}" sibTransId="{693A5C6A-82D7-49F2-837B-82D81758C186}"/>
    <dgm:cxn modelId="{D571F006-C4D6-FD42-A7E2-AD257F328202}" type="presOf" srcId="{A617E17E-72A3-4B62-BE7D-583C847D4B98}" destId="{629B3E89-ACBD-4A44-8582-35F6698609A0}" srcOrd="0" destOrd="0" presId="urn:microsoft.com/office/officeart/2005/8/layout/vList2"/>
    <dgm:cxn modelId="{3BF9970D-4F31-2B4F-AC64-5C513C0DF7BC}" type="presOf" srcId="{3013E473-2E72-478C-9B09-EC0BE3864082}" destId="{1E68409A-3853-C944-B400-78B0D1B24018}" srcOrd="0" destOrd="0" presId="urn:microsoft.com/office/officeart/2005/8/layout/vList2"/>
    <dgm:cxn modelId="{7C8A7626-B8D3-2042-A883-2A09C3466AF9}" type="presOf" srcId="{2986B96C-B2BD-407F-ADC0-B6EE23AAE0EC}" destId="{D0351046-F7BD-5648-A9E0-1F596455D601}" srcOrd="0" destOrd="0" presId="urn:microsoft.com/office/officeart/2005/8/layout/vList2"/>
    <dgm:cxn modelId="{6023795F-1DE8-4604-94CD-4DB6C15184AD}" srcId="{2986B96C-B2BD-407F-ADC0-B6EE23AAE0EC}" destId="{A617E17E-72A3-4B62-BE7D-583C847D4B98}" srcOrd="3" destOrd="0" parTransId="{6D981538-A060-4204-BE50-031CABDA4D1B}" sibTransId="{0D51CCC3-F0DE-4794-95FB-7D4A39DF46CD}"/>
    <dgm:cxn modelId="{549459BB-EAC9-402B-9D1C-0A5DDA3622FE}" srcId="{2986B96C-B2BD-407F-ADC0-B6EE23AAE0EC}" destId="{3013E473-2E72-478C-9B09-EC0BE3864082}" srcOrd="0" destOrd="0" parTransId="{BF0CA2C3-F221-4D88-94EA-872A42E34443}" sibTransId="{F534C2E7-0D01-45A1-8A3F-CB6C9B2604E7}"/>
    <dgm:cxn modelId="{B78470BC-BE49-9E44-BE0E-819C167A0F8B}" type="presOf" srcId="{68DD9CD6-726F-4089-8C2A-8546C0E47CEF}" destId="{446D138A-13B2-1D4F-A42B-B960140B352D}" srcOrd="0" destOrd="0" presId="urn:microsoft.com/office/officeart/2005/8/layout/vList2"/>
    <dgm:cxn modelId="{027D8ABF-5955-DF41-829A-5C3E93DF062B}" type="presOf" srcId="{313B56FA-02DB-4E1D-91A6-FA8FF5A9F4B1}" destId="{CDCC02D8-D86F-FA4B-B28C-525418B634B2}" srcOrd="0" destOrd="0" presId="urn:microsoft.com/office/officeart/2005/8/layout/vList2"/>
    <dgm:cxn modelId="{0C4881DD-45FF-467F-8C81-D1D1914EF23E}" srcId="{2986B96C-B2BD-407F-ADC0-B6EE23AAE0EC}" destId="{313B56FA-02DB-4E1D-91A6-FA8FF5A9F4B1}" srcOrd="1" destOrd="0" parTransId="{C75152D6-3446-4BC3-95B4-810C1E226488}" sibTransId="{88A5042E-30FB-4624-89F1-00AE124AA600}"/>
    <dgm:cxn modelId="{98780912-DE99-3F4F-906D-8C2CA30A14EF}" type="presParOf" srcId="{D0351046-F7BD-5648-A9E0-1F596455D601}" destId="{1E68409A-3853-C944-B400-78B0D1B24018}" srcOrd="0" destOrd="0" presId="urn:microsoft.com/office/officeart/2005/8/layout/vList2"/>
    <dgm:cxn modelId="{003D59FE-07B4-9B40-AC74-AD936DAC84BB}" type="presParOf" srcId="{D0351046-F7BD-5648-A9E0-1F596455D601}" destId="{CEC9B73F-3303-8B46-8A00-B4EC3F6E7B4E}" srcOrd="1" destOrd="0" presId="urn:microsoft.com/office/officeart/2005/8/layout/vList2"/>
    <dgm:cxn modelId="{A09CF0A3-9EC4-E64D-99E1-8AF5E559775B}" type="presParOf" srcId="{D0351046-F7BD-5648-A9E0-1F596455D601}" destId="{CDCC02D8-D86F-FA4B-B28C-525418B634B2}" srcOrd="2" destOrd="0" presId="urn:microsoft.com/office/officeart/2005/8/layout/vList2"/>
    <dgm:cxn modelId="{78F92B61-F3D2-E34C-A1FC-8E374FB20B9D}" type="presParOf" srcId="{D0351046-F7BD-5648-A9E0-1F596455D601}" destId="{41D796E0-22CA-0942-BB88-E070DE651F68}" srcOrd="3" destOrd="0" presId="urn:microsoft.com/office/officeart/2005/8/layout/vList2"/>
    <dgm:cxn modelId="{F7AA49CA-AE98-194D-A567-7B2E617B95EE}" type="presParOf" srcId="{D0351046-F7BD-5648-A9E0-1F596455D601}" destId="{446D138A-13B2-1D4F-A42B-B960140B352D}" srcOrd="4" destOrd="0" presId="urn:microsoft.com/office/officeart/2005/8/layout/vList2"/>
    <dgm:cxn modelId="{BF859BF4-7681-B444-99A0-8009FC80E3EC}" type="presParOf" srcId="{D0351046-F7BD-5648-A9E0-1F596455D601}" destId="{3606BF3A-2A5A-664B-83BB-E3F49D4BC522}" srcOrd="5" destOrd="0" presId="urn:microsoft.com/office/officeart/2005/8/layout/vList2"/>
    <dgm:cxn modelId="{655CF2D1-EF42-E34E-87C0-3F343E33DE8B}" type="presParOf" srcId="{D0351046-F7BD-5648-A9E0-1F596455D601}" destId="{629B3E89-ACBD-4A44-8582-35F6698609A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E3E976-FD3A-46DC-975F-7E7F6C7EDDF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8AF83D1-9113-43EB-A368-7CED5CCB7037}">
      <dgm:prSet/>
      <dgm:spPr/>
      <dgm:t>
        <a:bodyPr/>
        <a:lstStyle/>
        <a:p>
          <a:pPr>
            <a:lnSpc>
              <a:spcPct val="100000"/>
            </a:lnSpc>
            <a:defRPr cap="all"/>
          </a:pPr>
          <a:r>
            <a:rPr lang="en-US" b="1" dirty="0"/>
            <a:t>Test-set performance</a:t>
          </a:r>
          <a:endParaRPr lang="en-US" dirty="0"/>
        </a:p>
      </dgm:t>
    </dgm:pt>
    <dgm:pt modelId="{FFC8308C-4431-413D-AD7A-A142DE794E87}" type="parTrans" cxnId="{DCF4C589-BD0B-481E-BD4D-05AA38A057FC}">
      <dgm:prSet/>
      <dgm:spPr/>
      <dgm:t>
        <a:bodyPr/>
        <a:lstStyle/>
        <a:p>
          <a:endParaRPr lang="en-US"/>
        </a:p>
      </dgm:t>
    </dgm:pt>
    <dgm:pt modelId="{EA7B08EC-578F-46BA-90BE-27A8C8F9DC52}" type="sibTrans" cxnId="{DCF4C589-BD0B-481E-BD4D-05AA38A057FC}">
      <dgm:prSet/>
      <dgm:spPr/>
      <dgm:t>
        <a:bodyPr/>
        <a:lstStyle/>
        <a:p>
          <a:endParaRPr lang="en-US"/>
        </a:p>
      </dgm:t>
    </dgm:pt>
    <dgm:pt modelId="{8AE77ECD-2897-491D-932C-1A82D8B52CD6}">
      <dgm:prSet/>
      <dgm:spPr/>
      <dgm:t>
        <a:bodyPr/>
        <a:lstStyle/>
        <a:p>
          <a:pPr>
            <a:lnSpc>
              <a:spcPct val="100000"/>
            </a:lnSpc>
            <a:defRPr cap="all"/>
          </a:pPr>
          <a:r>
            <a:rPr lang="en-US" dirty="0"/>
            <a:t>Accuracy: </a:t>
          </a:r>
          <a:r>
            <a:rPr lang="en-US" b="1" dirty="0"/>
            <a:t>91.7%</a:t>
          </a:r>
          <a:endParaRPr lang="en-US" dirty="0"/>
        </a:p>
      </dgm:t>
    </dgm:pt>
    <dgm:pt modelId="{5AC48B7F-6A13-468A-AEF2-97242BDB4551}" type="parTrans" cxnId="{34F3E8C7-E3F4-49F0-9F8C-B1E2111A64F9}">
      <dgm:prSet/>
      <dgm:spPr/>
      <dgm:t>
        <a:bodyPr/>
        <a:lstStyle/>
        <a:p>
          <a:endParaRPr lang="en-US"/>
        </a:p>
      </dgm:t>
    </dgm:pt>
    <dgm:pt modelId="{F112A5F6-517F-429F-8C9C-9EF7D39B62B8}" type="sibTrans" cxnId="{34F3E8C7-E3F4-49F0-9F8C-B1E2111A64F9}">
      <dgm:prSet/>
      <dgm:spPr/>
      <dgm:t>
        <a:bodyPr/>
        <a:lstStyle/>
        <a:p>
          <a:endParaRPr lang="en-US"/>
        </a:p>
      </dgm:t>
    </dgm:pt>
    <dgm:pt modelId="{A9A070E0-D56F-4738-BB72-10CA1C6A16ED}">
      <dgm:prSet/>
      <dgm:spPr/>
      <dgm:t>
        <a:bodyPr/>
        <a:lstStyle/>
        <a:p>
          <a:pPr>
            <a:lnSpc>
              <a:spcPct val="100000"/>
            </a:lnSpc>
            <a:defRPr cap="all"/>
          </a:pPr>
          <a:r>
            <a:rPr lang="en-US"/>
            <a:t>Precision: </a:t>
          </a:r>
          <a:r>
            <a:rPr lang="en-US" b="1"/>
            <a:t>89.3%</a:t>
          </a:r>
          <a:endParaRPr lang="en-US"/>
        </a:p>
      </dgm:t>
    </dgm:pt>
    <dgm:pt modelId="{1BF79D8C-50FE-47A8-9EF9-B5106E820DE1}" type="parTrans" cxnId="{EEB500A5-4E75-4CF7-A9FA-7A756E992062}">
      <dgm:prSet/>
      <dgm:spPr/>
      <dgm:t>
        <a:bodyPr/>
        <a:lstStyle/>
        <a:p>
          <a:endParaRPr lang="en-US"/>
        </a:p>
      </dgm:t>
    </dgm:pt>
    <dgm:pt modelId="{3B25CB2D-1A75-4000-8443-E759BE0F5494}" type="sibTrans" cxnId="{EEB500A5-4E75-4CF7-A9FA-7A756E992062}">
      <dgm:prSet/>
      <dgm:spPr/>
      <dgm:t>
        <a:bodyPr/>
        <a:lstStyle/>
        <a:p>
          <a:endParaRPr lang="en-US"/>
        </a:p>
      </dgm:t>
    </dgm:pt>
    <dgm:pt modelId="{908D5D33-269B-428D-9C50-AFB44B334E79}">
      <dgm:prSet/>
      <dgm:spPr/>
      <dgm:t>
        <a:bodyPr/>
        <a:lstStyle/>
        <a:p>
          <a:pPr>
            <a:lnSpc>
              <a:spcPct val="100000"/>
            </a:lnSpc>
            <a:defRPr cap="all"/>
          </a:pPr>
          <a:r>
            <a:rPr lang="en-US" dirty="0"/>
            <a:t>Recall: </a:t>
          </a:r>
          <a:r>
            <a:rPr lang="en-US" b="1" dirty="0"/>
            <a:t>88.0%</a:t>
          </a:r>
          <a:endParaRPr lang="en-US" dirty="0"/>
        </a:p>
      </dgm:t>
    </dgm:pt>
    <dgm:pt modelId="{84419003-D49F-466B-A1CF-BE6C3354CD70}" type="parTrans" cxnId="{C3F05D63-2A92-4D19-AFE1-15B66C33E403}">
      <dgm:prSet/>
      <dgm:spPr/>
      <dgm:t>
        <a:bodyPr/>
        <a:lstStyle/>
        <a:p>
          <a:endParaRPr lang="en-US"/>
        </a:p>
      </dgm:t>
    </dgm:pt>
    <dgm:pt modelId="{27350D0F-D96C-416E-8A01-F5DF250E9AE0}" type="sibTrans" cxnId="{C3F05D63-2A92-4D19-AFE1-15B66C33E403}">
      <dgm:prSet/>
      <dgm:spPr/>
      <dgm:t>
        <a:bodyPr/>
        <a:lstStyle/>
        <a:p>
          <a:endParaRPr lang="en-US"/>
        </a:p>
      </dgm:t>
    </dgm:pt>
    <dgm:pt modelId="{BF69243D-5CA3-4D28-9DAB-434844ADB6FB}">
      <dgm:prSet/>
      <dgm:spPr/>
      <dgm:t>
        <a:bodyPr/>
        <a:lstStyle/>
        <a:p>
          <a:pPr>
            <a:lnSpc>
              <a:spcPct val="100000"/>
            </a:lnSpc>
            <a:defRPr cap="all"/>
          </a:pPr>
          <a:r>
            <a:rPr lang="en-US"/>
            <a:t>F1 score: </a:t>
          </a:r>
          <a:r>
            <a:rPr lang="en-US" b="1"/>
            <a:t>88.6%</a:t>
          </a:r>
          <a:endParaRPr lang="en-US"/>
        </a:p>
      </dgm:t>
    </dgm:pt>
    <dgm:pt modelId="{8C3C723F-9377-4867-91BE-949A82963392}" type="parTrans" cxnId="{EAE2908A-9773-4CF9-85B5-52142509A220}">
      <dgm:prSet/>
      <dgm:spPr/>
      <dgm:t>
        <a:bodyPr/>
        <a:lstStyle/>
        <a:p>
          <a:endParaRPr lang="en-US"/>
        </a:p>
      </dgm:t>
    </dgm:pt>
    <dgm:pt modelId="{1B88CA86-49C2-4FCA-AEE8-F3B861BD12A2}" type="sibTrans" cxnId="{EAE2908A-9773-4CF9-85B5-52142509A220}">
      <dgm:prSet/>
      <dgm:spPr/>
      <dgm:t>
        <a:bodyPr/>
        <a:lstStyle/>
        <a:p>
          <a:endParaRPr lang="en-US"/>
        </a:p>
      </dgm:t>
    </dgm:pt>
    <dgm:pt modelId="{A5F9C2C8-29AA-FA4B-A09F-4D90ABC52327}">
      <dgm:prSet/>
      <dgm:spPr/>
      <dgm:t>
        <a:bodyPr/>
        <a:lstStyle/>
        <a:p>
          <a:pPr>
            <a:lnSpc>
              <a:spcPct val="100000"/>
            </a:lnSpc>
          </a:pPr>
          <a:r>
            <a:rPr lang="en-US" dirty="0"/>
            <a:t>&gt;= 30 FPS inference</a:t>
          </a:r>
        </a:p>
      </dgm:t>
    </dgm:pt>
    <dgm:pt modelId="{8FAAFA51-8A74-1047-832E-FABECF621DE7}" type="parTrans" cxnId="{A0FEF068-DE69-F140-86C2-2F40BDB62D11}">
      <dgm:prSet/>
      <dgm:spPr/>
      <dgm:t>
        <a:bodyPr/>
        <a:lstStyle/>
        <a:p>
          <a:endParaRPr lang="en-US"/>
        </a:p>
      </dgm:t>
    </dgm:pt>
    <dgm:pt modelId="{6AB342F6-B5E1-4749-889D-7D687E479E2E}" type="sibTrans" cxnId="{A0FEF068-DE69-F140-86C2-2F40BDB62D11}">
      <dgm:prSet/>
      <dgm:spPr/>
      <dgm:t>
        <a:bodyPr/>
        <a:lstStyle/>
        <a:p>
          <a:endParaRPr lang="en-US"/>
        </a:p>
      </dgm:t>
    </dgm:pt>
    <dgm:pt modelId="{C859FD96-1F47-472A-88E0-E48CD748B1CB}" type="pres">
      <dgm:prSet presAssocID="{FEE3E976-FD3A-46DC-975F-7E7F6C7EDDF5}" presName="root" presStyleCnt="0">
        <dgm:presLayoutVars>
          <dgm:dir/>
          <dgm:resizeHandles val="exact"/>
        </dgm:presLayoutVars>
      </dgm:prSet>
      <dgm:spPr/>
    </dgm:pt>
    <dgm:pt modelId="{C2D40613-2485-408C-AA85-43BE451F2C51}" type="pres">
      <dgm:prSet presAssocID="{F8AF83D1-9113-43EB-A368-7CED5CCB7037}" presName="compNode" presStyleCnt="0"/>
      <dgm:spPr/>
    </dgm:pt>
    <dgm:pt modelId="{DFD915D8-ABC8-47EF-BF25-0A44B2B5DC00}" type="pres">
      <dgm:prSet presAssocID="{F8AF83D1-9113-43EB-A368-7CED5CCB7037}" presName="iconBgRect" presStyleLbl="bgShp" presStyleIdx="0" presStyleCnt="6"/>
      <dgm:spPr/>
    </dgm:pt>
    <dgm:pt modelId="{B439EB83-095A-4BF0-A1B4-86953B4BBE27}" type="pres">
      <dgm:prSet presAssocID="{F8AF83D1-9113-43EB-A368-7CED5CCB703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DB41B7AA-322A-490F-8E2F-F5BD6DBB38DB}" type="pres">
      <dgm:prSet presAssocID="{F8AF83D1-9113-43EB-A368-7CED5CCB7037}" presName="spaceRect" presStyleCnt="0"/>
      <dgm:spPr/>
    </dgm:pt>
    <dgm:pt modelId="{38F9F241-2591-43ED-92EB-72B60E15F22A}" type="pres">
      <dgm:prSet presAssocID="{F8AF83D1-9113-43EB-A368-7CED5CCB7037}" presName="textRect" presStyleLbl="revTx" presStyleIdx="0" presStyleCnt="6">
        <dgm:presLayoutVars>
          <dgm:chMax val="1"/>
          <dgm:chPref val="1"/>
        </dgm:presLayoutVars>
      </dgm:prSet>
      <dgm:spPr/>
    </dgm:pt>
    <dgm:pt modelId="{D7F07566-078D-406C-B6ED-EECB854628D6}" type="pres">
      <dgm:prSet presAssocID="{EA7B08EC-578F-46BA-90BE-27A8C8F9DC52}" presName="sibTrans" presStyleCnt="0"/>
      <dgm:spPr/>
    </dgm:pt>
    <dgm:pt modelId="{A4DCD57F-1AB7-4639-8329-D0F0E9E052F8}" type="pres">
      <dgm:prSet presAssocID="{8AE77ECD-2897-491D-932C-1A82D8B52CD6}" presName="compNode" presStyleCnt="0"/>
      <dgm:spPr/>
    </dgm:pt>
    <dgm:pt modelId="{7CFDBBF3-D459-4127-96B0-6FA776F8059C}" type="pres">
      <dgm:prSet presAssocID="{8AE77ECD-2897-491D-932C-1A82D8B52CD6}" presName="iconBgRect" presStyleLbl="bgShp" presStyleIdx="1" presStyleCnt="6"/>
      <dgm:spPr/>
    </dgm:pt>
    <dgm:pt modelId="{7FF9E482-89C6-4C32-89C9-DEE76F1023C1}" type="pres">
      <dgm:prSet presAssocID="{8AE77ECD-2897-491D-932C-1A82D8B52CD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ext>
      </dgm:extLst>
    </dgm:pt>
    <dgm:pt modelId="{120C74B8-79D0-4A0C-8523-A20B804B4B7C}" type="pres">
      <dgm:prSet presAssocID="{8AE77ECD-2897-491D-932C-1A82D8B52CD6}" presName="spaceRect" presStyleCnt="0"/>
      <dgm:spPr/>
    </dgm:pt>
    <dgm:pt modelId="{E6C181F5-470E-44A9-87F3-0C8CB489D2DB}" type="pres">
      <dgm:prSet presAssocID="{8AE77ECD-2897-491D-932C-1A82D8B52CD6}" presName="textRect" presStyleLbl="revTx" presStyleIdx="1" presStyleCnt="6">
        <dgm:presLayoutVars>
          <dgm:chMax val="1"/>
          <dgm:chPref val="1"/>
        </dgm:presLayoutVars>
      </dgm:prSet>
      <dgm:spPr/>
    </dgm:pt>
    <dgm:pt modelId="{032DA695-55F2-4427-AAF6-B78EF03A3523}" type="pres">
      <dgm:prSet presAssocID="{F112A5F6-517F-429F-8C9C-9EF7D39B62B8}" presName="sibTrans" presStyleCnt="0"/>
      <dgm:spPr/>
    </dgm:pt>
    <dgm:pt modelId="{85E43F78-2F7F-429B-B28C-1352688A361A}" type="pres">
      <dgm:prSet presAssocID="{A9A070E0-D56F-4738-BB72-10CA1C6A16ED}" presName="compNode" presStyleCnt="0"/>
      <dgm:spPr/>
    </dgm:pt>
    <dgm:pt modelId="{AE8DF8D2-2874-49D7-8ACE-AE639F490F24}" type="pres">
      <dgm:prSet presAssocID="{A9A070E0-D56F-4738-BB72-10CA1C6A16ED}" presName="iconBgRect" presStyleLbl="bgShp" presStyleIdx="2" presStyleCnt="6"/>
      <dgm:spPr/>
    </dgm:pt>
    <dgm:pt modelId="{7A59E841-5C30-4FE4-8E64-7584E7468E69}" type="pres">
      <dgm:prSet presAssocID="{A9A070E0-D56F-4738-BB72-10CA1C6A16E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me"/>
        </a:ext>
      </dgm:extLst>
    </dgm:pt>
    <dgm:pt modelId="{7C84E0EE-01DD-4E28-8F89-16C148937EE6}" type="pres">
      <dgm:prSet presAssocID="{A9A070E0-D56F-4738-BB72-10CA1C6A16ED}" presName="spaceRect" presStyleCnt="0"/>
      <dgm:spPr/>
    </dgm:pt>
    <dgm:pt modelId="{02A9C1D9-936F-43B8-8637-99DFEFAC3586}" type="pres">
      <dgm:prSet presAssocID="{A9A070E0-D56F-4738-BB72-10CA1C6A16ED}" presName="textRect" presStyleLbl="revTx" presStyleIdx="2" presStyleCnt="6">
        <dgm:presLayoutVars>
          <dgm:chMax val="1"/>
          <dgm:chPref val="1"/>
        </dgm:presLayoutVars>
      </dgm:prSet>
      <dgm:spPr/>
    </dgm:pt>
    <dgm:pt modelId="{6A664443-11E7-408A-B129-928951E23747}" type="pres">
      <dgm:prSet presAssocID="{3B25CB2D-1A75-4000-8443-E759BE0F5494}" presName="sibTrans" presStyleCnt="0"/>
      <dgm:spPr/>
    </dgm:pt>
    <dgm:pt modelId="{D6B0206B-7EC7-49EE-BC0F-B99532D0F160}" type="pres">
      <dgm:prSet presAssocID="{908D5D33-269B-428D-9C50-AFB44B334E79}" presName="compNode" presStyleCnt="0"/>
      <dgm:spPr/>
    </dgm:pt>
    <dgm:pt modelId="{31C34499-8D1A-4906-A3E8-693BE916EFC6}" type="pres">
      <dgm:prSet presAssocID="{908D5D33-269B-428D-9C50-AFB44B334E79}" presName="iconBgRect" presStyleLbl="bgShp" presStyleIdx="3" presStyleCnt="6"/>
      <dgm:spPr/>
    </dgm:pt>
    <dgm:pt modelId="{0FF84B17-75D9-46CD-8810-2953CB01BED3}" type="pres">
      <dgm:prSet presAssocID="{908D5D33-269B-428D-9C50-AFB44B334E7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Open Quotation Mark"/>
        </a:ext>
      </dgm:extLst>
    </dgm:pt>
    <dgm:pt modelId="{6C14DD9C-F570-488F-B473-425288E6CD84}" type="pres">
      <dgm:prSet presAssocID="{908D5D33-269B-428D-9C50-AFB44B334E79}" presName="spaceRect" presStyleCnt="0"/>
      <dgm:spPr/>
    </dgm:pt>
    <dgm:pt modelId="{97555B44-A4C7-4B32-9061-247585C70CEC}" type="pres">
      <dgm:prSet presAssocID="{908D5D33-269B-428D-9C50-AFB44B334E79}" presName="textRect" presStyleLbl="revTx" presStyleIdx="3" presStyleCnt="6" custScaleX="74268">
        <dgm:presLayoutVars>
          <dgm:chMax val="1"/>
          <dgm:chPref val="1"/>
        </dgm:presLayoutVars>
      </dgm:prSet>
      <dgm:spPr/>
    </dgm:pt>
    <dgm:pt modelId="{4B181679-96E7-4D9A-B868-1682112DDB3F}" type="pres">
      <dgm:prSet presAssocID="{27350D0F-D96C-416E-8A01-F5DF250E9AE0}" presName="sibTrans" presStyleCnt="0"/>
      <dgm:spPr/>
    </dgm:pt>
    <dgm:pt modelId="{0653EDFC-417F-4E0B-B5D9-3C1B5D3863B1}" type="pres">
      <dgm:prSet presAssocID="{BF69243D-5CA3-4D28-9DAB-434844ADB6FB}" presName="compNode" presStyleCnt="0"/>
      <dgm:spPr/>
    </dgm:pt>
    <dgm:pt modelId="{5850D665-F808-405C-9E18-1BBEBF1DF6FC}" type="pres">
      <dgm:prSet presAssocID="{BF69243D-5CA3-4D28-9DAB-434844ADB6FB}" presName="iconBgRect" presStyleLbl="bgShp" presStyleIdx="4" presStyleCnt="6"/>
      <dgm:spPr/>
    </dgm:pt>
    <dgm:pt modelId="{F3B45F3B-188F-4567-B700-C249144419B1}" type="pres">
      <dgm:prSet presAssocID="{BF69243D-5CA3-4D28-9DAB-434844ADB6F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2A2117B2-1CF4-45D8-8B6D-A7B5EEF06664}" type="pres">
      <dgm:prSet presAssocID="{BF69243D-5CA3-4D28-9DAB-434844ADB6FB}" presName="spaceRect" presStyleCnt="0"/>
      <dgm:spPr/>
    </dgm:pt>
    <dgm:pt modelId="{2C220DA6-3732-4C04-A917-2715C70DC52C}" type="pres">
      <dgm:prSet presAssocID="{BF69243D-5CA3-4D28-9DAB-434844ADB6FB}" presName="textRect" presStyleLbl="revTx" presStyleIdx="4" presStyleCnt="6">
        <dgm:presLayoutVars>
          <dgm:chMax val="1"/>
          <dgm:chPref val="1"/>
        </dgm:presLayoutVars>
      </dgm:prSet>
      <dgm:spPr/>
    </dgm:pt>
    <dgm:pt modelId="{2AB00CC9-CE85-054D-A083-DC7CD770F58D}" type="pres">
      <dgm:prSet presAssocID="{1B88CA86-49C2-4FCA-AEE8-F3B861BD12A2}" presName="sibTrans" presStyleCnt="0"/>
      <dgm:spPr/>
    </dgm:pt>
    <dgm:pt modelId="{F9C595FC-1BCA-5941-AE7F-CA7CDE404BA2}" type="pres">
      <dgm:prSet presAssocID="{A5F9C2C8-29AA-FA4B-A09F-4D90ABC52327}" presName="compNode" presStyleCnt="0"/>
      <dgm:spPr/>
    </dgm:pt>
    <dgm:pt modelId="{44509FBE-DAF5-4041-A9AD-A4E7F65DA919}" type="pres">
      <dgm:prSet presAssocID="{A5F9C2C8-29AA-FA4B-A09F-4D90ABC52327}" presName="iconBgRect" presStyleLbl="bgShp" presStyleIdx="5" presStyleCnt="6"/>
      <dgm:spPr/>
    </dgm:pt>
    <dgm:pt modelId="{CB08166D-1555-3042-A049-7285B7F8F28F}" type="pres">
      <dgm:prSet presAssocID="{A5F9C2C8-29AA-FA4B-A09F-4D90ABC52327}" presName="iconRect" presStyleLbl="node1" presStyleIdx="5" presStyleCnt="6"/>
      <dgm:spPr>
        <a:blipFill>
          <a:blip xmlns:r="http://schemas.openxmlformats.org/officeDocument/2006/relationships" r:embed="rId11"/>
          <a:srcRect/>
          <a:stretch>
            <a:fillRect/>
          </a:stretch>
        </a:blipFill>
      </dgm:spPr>
    </dgm:pt>
    <dgm:pt modelId="{83767DDD-F197-D14B-887E-0FA4DD5CD187}" type="pres">
      <dgm:prSet presAssocID="{A5F9C2C8-29AA-FA4B-A09F-4D90ABC52327}" presName="spaceRect" presStyleCnt="0"/>
      <dgm:spPr/>
    </dgm:pt>
    <dgm:pt modelId="{9C7CAF30-E800-774E-A1A0-E973E5768F14}" type="pres">
      <dgm:prSet presAssocID="{A5F9C2C8-29AA-FA4B-A09F-4D90ABC52327}" presName="textRect" presStyleLbl="revTx" presStyleIdx="5" presStyleCnt="6">
        <dgm:presLayoutVars>
          <dgm:chMax val="1"/>
          <dgm:chPref val="1"/>
        </dgm:presLayoutVars>
      </dgm:prSet>
      <dgm:spPr/>
    </dgm:pt>
  </dgm:ptLst>
  <dgm:cxnLst>
    <dgm:cxn modelId="{81E98442-98C3-4916-99D6-727FB0635001}" type="presOf" srcId="{A9A070E0-D56F-4738-BB72-10CA1C6A16ED}" destId="{02A9C1D9-936F-43B8-8637-99DFEFAC3586}" srcOrd="0" destOrd="0" presId="urn:microsoft.com/office/officeart/2018/5/layout/IconCircleLabelList"/>
    <dgm:cxn modelId="{E5643F5B-6485-41A7-9413-EE833F691E83}" type="presOf" srcId="{FEE3E976-FD3A-46DC-975F-7E7F6C7EDDF5}" destId="{C859FD96-1F47-472A-88E0-E48CD748B1CB}" srcOrd="0" destOrd="0" presId="urn:microsoft.com/office/officeart/2018/5/layout/IconCircleLabelList"/>
    <dgm:cxn modelId="{C3F05D63-2A92-4D19-AFE1-15B66C33E403}" srcId="{FEE3E976-FD3A-46DC-975F-7E7F6C7EDDF5}" destId="{908D5D33-269B-428D-9C50-AFB44B334E79}" srcOrd="3" destOrd="0" parTransId="{84419003-D49F-466B-A1CF-BE6C3354CD70}" sibTransId="{27350D0F-D96C-416E-8A01-F5DF250E9AE0}"/>
    <dgm:cxn modelId="{A0FEF068-DE69-F140-86C2-2F40BDB62D11}" srcId="{FEE3E976-FD3A-46DC-975F-7E7F6C7EDDF5}" destId="{A5F9C2C8-29AA-FA4B-A09F-4D90ABC52327}" srcOrd="5" destOrd="0" parTransId="{8FAAFA51-8A74-1047-832E-FABECF621DE7}" sibTransId="{6AB342F6-B5E1-4749-889D-7D687E479E2E}"/>
    <dgm:cxn modelId="{0F76396A-9C9B-400F-B78C-DEE9CBAC6C81}" type="presOf" srcId="{F8AF83D1-9113-43EB-A368-7CED5CCB7037}" destId="{38F9F241-2591-43ED-92EB-72B60E15F22A}" srcOrd="0" destOrd="0" presId="urn:microsoft.com/office/officeart/2018/5/layout/IconCircleLabelList"/>
    <dgm:cxn modelId="{DCF4C589-BD0B-481E-BD4D-05AA38A057FC}" srcId="{FEE3E976-FD3A-46DC-975F-7E7F6C7EDDF5}" destId="{F8AF83D1-9113-43EB-A368-7CED5CCB7037}" srcOrd="0" destOrd="0" parTransId="{FFC8308C-4431-413D-AD7A-A142DE794E87}" sibTransId="{EA7B08EC-578F-46BA-90BE-27A8C8F9DC52}"/>
    <dgm:cxn modelId="{EAE2908A-9773-4CF9-85B5-52142509A220}" srcId="{FEE3E976-FD3A-46DC-975F-7E7F6C7EDDF5}" destId="{BF69243D-5CA3-4D28-9DAB-434844ADB6FB}" srcOrd="4" destOrd="0" parTransId="{8C3C723F-9377-4867-91BE-949A82963392}" sibTransId="{1B88CA86-49C2-4FCA-AEE8-F3B861BD12A2}"/>
    <dgm:cxn modelId="{D53AC199-FE4C-4BC0-BDEB-8A0DEDFA0C19}" type="presOf" srcId="{BF69243D-5CA3-4D28-9DAB-434844ADB6FB}" destId="{2C220DA6-3732-4C04-A917-2715C70DC52C}" srcOrd="0" destOrd="0" presId="urn:microsoft.com/office/officeart/2018/5/layout/IconCircleLabelList"/>
    <dgm:cxn modelId="{EEB500A5-4E75-4CF7-A9FA-7A756E992062}" srcId="{FEE3E976-FD3A-46DC-975F-7E7F6C7EDDF5}" destId="{A9A070E0-D56F-4738-BB72-10CA1C6A16ED}" srcOrd="2" destOrd="0" parTransId="{1BF79D8C-50FE-47A8-9EF9-B5106E820DE1}" sibTransId="{3B25CB2D-1A75-4000-8443-E759BE0F5494}"/>
    <dgm:cxn modelId="{D5BB8AAB-177F-F141-9E5A-91DFB0168DDF}" type="presOf" srcId="{A5F9C2C8-29AA-FA4B-A09F-4D90ABC52327}" destId="{9C7CAF30-E800-774E-A1A0-E973E5768F14}" srcOrd="0" destOrd="0" presId="urn:microsoft.com/office/officeart/2018/5/layout/IconCircleLabelList"/>
    <dgm:cxn modelId="{34F3E8C7-E3F4-49F0-9F8C-B1E2111A64F9}" srcId="{FEE3E976-FD3A-46DC-975F-7E7F6C7EDDF5}" destId="{8AE77ECD-2897-491D-932C-1A82D8B52CD6}" srcOrd="1" destOrd="0" parTransId="{5AC48B7F-6A13-468A-AEF2-97242BDB4551}" sibTransId="{F112A5F6-517F-429F-8C9C-9EF7D39B62B8}"/>
    <dgm:cxn modelId="{632867CB-C85E-44B1-B5D1-A01D2240E329}" type="presOf" srcId="{908D5D33-269B-428D-9C50-AFB44B334E79}" destId="{97555B44-A4C7-4B32-9061-247585C70CEC}" srcOrd="0" destOrd="0" presId="urn:microsoft.com/office/officeart/2018/5/layout/IconCircleLabelList"/>
    <dgm:cxn modelId="{0CE9F7F0-F984-456E-8F1F-DDB7E7DCAB88}" type="presOf" srcId="{8AE77ECD-2897-491D-932C-1A82D8B52CD6}" destId="{E6C181F5-470E-44A9-87F3-0C8CB489D2DB}" srcOrd="0" destOrd="0" presId="urn:microsoft.com/office/officeart/2018/5/layout/IconCircleLabelList"/>
    <dgm:cxn modelId="{7A332524-0CA5-4EA3-85C6-7F1D11139D61}" type="presParOf" srcId="{C859FD96-1F47-472A-88E0-E48CD748B1CB}" destId="{C2D40613-2485-408C-AA85-43BE451F2C51}" srcOrd="0" destOrd="0" presId="urn:microsoft.com/office/officeart/2018/5/layout/IconCircleLabelList"/>
    <dgm:cxn modelId="{D7F83CAA-9DFB-45F5-BC71-908A70741C91}" type="presParOf" srcId="{C2D40613-2485-408C-AA85-43BE451F2C51}" destId="{DFD915D8-ABC8-47EF-BF25-0A44B2B5DC00}" srcOrd="0" destOrd="0" presId="urn:microsoft.com/office/officeart/2018/5/layout/IconCircleLabelList"/>
    <dgm:cxn modelId="{80CE4934-B605-46DA-B269-8AB21426EBE7}" type="presParOf" srcId="{C2D40613-2485-408C-AA85-43BE451F2C51}" destId="{B439EB83-095A-4BF0-A1B4-86953B4BBE27}" srcOrd="1" destOrd="0" presId="urn:microsoft.com/office/officeart/2018/5/layout/IconCircleLabelList"/>
    <dgm:cxn modelId="{3BA56A84-DE7F-4940-8C1D-1228F6C79642}" type="presParOf" srcId="{C2D40613-2485-408C-AA85-43BE451F2C51}" destId="{DB41B7AA-322A-490F-8E2F-F5BD6DBB38DB}" srcOrd="2" destOrd="0" presId="urn:microsoft.com/office/officeart/2018/5/layout/IconCircleLabelList"/>
    <dgm:cxn modelId="{F0358016-4147-49EC-AAE8-9C3149A792A1}" type="presParOf" srcId="{C2D40613-2485-408C-AA85-43BE451F2C51}" destId="{38F9F241-2591-43ED-92EB-72B60E15F22A}" srcOrd="3" destOrd="0" presId="urn:microsoft.com/office/officeart/2018/5/layout/IconCircleLabelList"/>
    <dgm:cxn modelId="{E24A67DE-4526-46FF-AAB5-80B1CF63C3DA}" type="presParOf" srcId="{C859FD96-1F47-472A-88E0-E48CD748B1CB}" destId="{D7F07566-078D-406C-B6ED-EECB854628D6}" srcOrd="1" destOrd="0" presId="urn:microsoft.com/office/officeart/2018/5/layout/IconCircleLabelList"/>
    <dgm:cxn modelId="{1282BDD2-BC3E-4441-ABD8-98F76D8112D1}" type="presParOf" srcId="{C859FD96-1F47-472A-88E0-E48CD748B1CB}" destId="{A4DCD57F-1AB7-4639-8329-D0F0E9E052F8}" srcOrd="2" destOrd="0" presId="urn:microsoft.com/office/officeart/2018/5/layout/IconCircleLabelList"/>
    <dgm:cxn modelId="{C3ED71E3-C89D-480E-BA45-6C8E8082EED8}" type="presParOf" srcId="{A4DCD57F-1AB7-4639-8329-D0F0E9E052F8}" destId="{7CFDBBF3-D459-4127-96B0-6FA776F8059C}" srcOrd="0" destOrd="0" presId="urn:microsoft.com/office/officeart/2018/5/layout/IconCircleLabelList"/>
    <dgm:cxn modelId="{83B6F9E2-3A7B-409E-92B8-A80D8BA2B0F8}" type="presParOf" srcId="{A4DCD57F-1AB7-4639-8329-D0F0E9E052F8}" destId="{7FF9E482-89C6-4C32-89C9-DEE76F1023C1}" srcOrd="1" destOrd="0" presId="urn:microsoft.com/office/officeart/2018/5/layout/IconCircleLabelList"/>
    <dgm:cxn modelId="{BB90C361-FCD1-4906-A8AC-F6C925275401}" type="presParOf" srcId="{A4DCD57F-1AB7-4639-8329-D0F0E9E052F8}" destId="{120C74B8-79D0-4A0C-8523-A20B804B4B7C}" srcOrd="2" destOrd="0" presId="urn:microsoft.com/office/officeart/2018/5/layout/IconCircleLabelList"/>
    <dgm:cxn modelId="{8CB3F576-D019-4750-B339-981F4F5A5588}" type="presParOf" srcId="{A4DCD57F-1AB7-4639-8329-D0F0E9E052F8}" destId="{E6C181F5-470E-44A9-87F3-0C8CB489D2DB}" srcOrd="3" destOrd="0" presId="urn:microsoft.com/office/officeart/2018/5/layout/IconCircleLabelList"/>
    <dgm:cxn modelId="{AECC582E-584C-4FA7-ABBF-9910607FB6D9}" type="presParOf" srcId="{C859FD96-1F47-472A-88E0-E48CD748B1CB}" destId="{032DA695-55F2-4427-AAF6-B78EF03A3523}" srcOrd="3" destOrd="0" presId="urn:microsoft.com/office/officeart/2018/5/layout/IconCircleLabelList"/>
    <dgm:cxn modelId="{5E92804A-D0CC-4E8D-A4BA-9BE28CCB41ED}" type="presParOf" srcId="{C859FD96-1F47-472A-88E0-E48CD748B1CB}" destId="{85E43F78-2F7F-429B-B28C-1352688A361A}" srcOrd="4" destOrd="0" presId="urn:microsoft.com/office/officeart/2018/5/layout/IconCircleLabelList"/>
    <dgm:cxn modelId="{7DAE9868-19DF-41E4-8CA6-6AADC4E87AFE}" type="presParOf" srcId="{85E43F78-2F7F-429B-B28C-1352688A361A}" destId="{AE8DF8D2-2874-49D7-8ACE-AE639F490F24}" srcOrd="0" destOrd="0" presId="urn:microsoft.com/office/officeart/2018/5/layout/IconCircleLabelList"/>
    <dgm:cxn modelId="{96629464-ED67-43C6-8FDB-4FE78BA0B1D3}" type="presParOf" srcId="{85E43F78-2F7F-429B-B28C-1352688A361A}" destId="{7A59E841-5C30-4FE4-8E64-7584E7468E69}" srcOrd="1" destOrd="0" presId="urn:microsoft.com/office/officeart/2018/5/layout/IconCircleLabelList"/>
    <dgm:cxn modelId="{33B44CFC-8216-4CA7-B802-8400BB3C8624}" type="presParOf" srcId="{85E43F78-2F7F-429B-B28C-1352688A361A}" destId="{7C84E0EE-01DD-4E28-8F89-16C148937EE6}" srcOrd="2" destOrd="0" presId="urn:microsoft.com/office/officeart/2018/5/layout/IconCircleLabelList"/>
    <dgm:cxn modelId="{E48B8550-1E81-4193-B675-B71368EF47FC}" type="presParOf" srcId="{85E43F78-2F7F-429B-B28C-1352688A361A}" destId="{02A9C1D9-936F-43B8-8637-99DFEFAC3586}" srcOrd="3" destOrd="0" presId="urn:microsoft.com/office/officeart/2018/5/layout/IconCircleLabelList"/>
    <dgm:cxn modelId="{5C47FE10-75BB-43BA-8A85-9C519E3F2C2B}" type="presParOf" srcId="{C859FD96-1F47-472A-88E0-E48CD748B1CB}" destId="{6A664443-11E7-408A-B129-928951E23747}" srcOrd="5" destOrd="0" presId="urn:microsoft.com/office/officeart/2018/5/layout/IconCircleLabelList"/>
    <dgm:cxn modelId="{B68D7A4A-D593-48B1-B10A-AC4174EFDD0F}" type="presParOf" srcId="{C859FD96-1F47-472A-88E0-E48CD748B1CB}" destId="{D6B0206B-7EC7-49EE-BC0F-B99532D0F160}" srcOrd="6" destOrd="0" presId="urn:microsoft.com/office/officeart/2018/5/layout/IconCircleLabelList"/>
    <dgm:cxn modelId="{5F601AE8-3462-4933-B242-91A0C211E844}" type="presParOf" srcId="{D6B0206B-7EC7-49EE-BC0F-B99532D0F160}" destId="{31C34499-8D1A-4906-A3E8-693BE916EFC6}" srcOrd="0" destOrd="0" presId="urn:microsoft.com/office/officeart/2018/5/layout/IconCircleLabelList"/>
    <dgm:cxn modelId="{2A5CECD3-875D-470F-9EBC-5F47656CA7B0}" type="presParOf" srcId="{D6B0206B-7EC7-49EE-BC0F-B99532D0F160}" destId="{0FF84B17-75D9-46CD-8810-2953CB01BED3}" srcOrd="1" destOrd="0" presId="urn:microsoft.com/office/officeart/2018/5/layout/IconCircleLabelList"/>
    <dgm:cxn modelId="{6B0DC7CB-CB84-469A-9C52-0DCDD7834A45}" type="presParOf" srcId="{D6B0206B-7EC7-49EE-BC0F-B99532D0F160}" destId="{6C14DD9C-F570-488F-B473-425288E6CD84}" srcOrd="2" destOrd="0" presId="urn:microsoft.com/office/officeart/2018/5/layout/IconCircleLabelList"/>
    <dgm:cxn modelId="{E0ED93E9-D7B0-4B1D-9C5A-B55CE770D7D4}" type="presParOf" srcId="{D6B0206B-7EC7-49EE-BC0F-B99532D0F160}" destId="{97555B44-A4C7-4B32-9061-247585C70CEC}" srcOrd="3" destOrd="0" presId="urn:microsoft.com/office/officeart/2018/5/layout/IconCircleLabelList"/>
    <dgm:cxn modelId="{B05A408C-0F65-4202-805C-E74EDC8BC7FF}" type="presParOf" srcId="{C859FD96-1F47-472A-88E0-E48CD748B1CB}" destId="{4B181679-96E7-4D9A-B868-1682112DDB3F}" srcOrd="7" destOrd="0" presId="urn:microsoft.com/office/officeart/2018/5/layout/IconCircleLabelList"/>
    <dgm:cxn modelId="{39576E27-B4CB-40BB-8D8A-89E72FF9F136}" type="presParOf" srcId="{C859FD96-1F47-472A-88E0-E48CD748B1CB}" destId="{0653EDFC-417F-4E0B-B5D9-3C1B5D3863B1}" srcOrd="8" destOrd="0" presId="urn:microsoft.com/office/officeart/2018/5/layout/IconCircleLabelList"/>
    <dgm:cxn modelId="{CED84579-6057-49F6-B783-8E35589FE378}" type="presParOf" srcId="{0653EDFC-417F-4E0B-B5D9-3C1B5D3863B1}" destId="{5850D665-F808-405C-9E18-1BBEBF1DF6FC}" srcOrd="0" destOrd="0" presId="urn:microsoft.com/office/officeart/2018/5/layout/IconCircleLabelList"/>
    <dgm:cxn modelId="{B9B60104-551C-48F8-8DE1-E54C662CD335}" type="presParOf" srcId="{0653EDFC-417F-4E0B-B5D9-3C1B5D3863B1}" destId="{F3B45F3B-188F-4567-B700-C249144419B1}" srcOrd="1" destOrd="0" presId="urn:microsoft.com/office/officeart/2018/5/layout/IconCircleLabelList"/>
    <dgm:cxn modelId="{C6C495DC-83F8-4D50-B6E6-1CFC226D248A}" type="presParOf" srcId="{0653EDFC-417F-4E0B-B5D9-3C1B5D3863B1}" destId="{2A2117B2-1CF4-45D8-8B6D-A7B5EEF06664}" srcOrd="2" destOrd="0" presId="urn:microsoft.com/office/officeart/2018/5/layout/IconCircleLabelList"/>
    <dgm:cxn modelId="{F30E29E0-B9A1-4C10-9DA6-6790EE300E3F}" type="presParOf" srcId="{0653EDFC-417F-4E0B-B5D9-3C1B5D3863B1}" destId="{2C220DA6-3732-4C04-A917-2715C70DC52C}" srcOrd="3" destOrd="0" presId="urn:microsoft.com/office/officeart/2018/5/layout/IconCircleLabelList"/>
    <dgm:cxn modelId="{88A99490-791F-C440-A79C-21C5C3E51C77}" type="presParOf" srcId="{C859FD96-1F47-472A-88E0-E48CD748B1CB}" destId="{2AB00CC9-CE85-054D-A083-DC7CD770F58D}" srcOrd="9" destOrd="0" presId="urn:microsoft.com/office/officeart/2018/5/layout/IconCircleLabelList"/>
    <dgm:cxn modelId="{BDA5EAD2-5526-1A4D-B42D-47C28A94629D}" type="presParOf" srcId="{C859FD96-1F47-472A-88E0-E48CD748B1CB}" destId="{F9C595FC-1BCA-5941-AE7F-CA7CDE404BA2}" srcOrd="10" destOrd="0" presId="urn:microsoft.com/office/officeart/2018/5/layout/IconCircleLabelList"/>
    <dgm:cxn modelId="{AB792691-BEFB-5C45-9F5D-69E116779B40}" type="presParOf" srcId="{F9C595FC-1BCA-5941-AE7F-CA7CDE404BA2}" destId="{44509FBE-DAF5-4041-A9AD-A4E7F65DA919}" srcOrd="0" destOrd="0" presId="urn:microsoft.com/office/officeart/2018/5/layout/IconCircleLabelList"/>
    <dgm:cxn modelId="{4B738BDD-B462-8E48-B0A6-0CDB7062036A}" type="presParOf" srcId="{F9C595FC-1BCA-5941-AE7F-CA7CDE404BA2}" destId="{CB08166D-1555-3042-A049-7285B7F8F28F}" srcOrd="1" destOrd="0" presId="urn:microsoft.com/office/officeart/2018/5/layout/IconCircleLabelList"/>
    <dgm:cxn modelId="{29F83EAC-C509-3C4D-A1D7-0D49A2948C1A}" type="presParOf" srcId="{F9C595FC-1BCA-5941-AE7F-CA7CDE404BA2}" destId="{83767DDD-F197-D14B-887E-0FA4DD5CD187}" srcOrd="2" destOrd="0" presId="urn:microsoft.com/office/officeart/2018/5/layout/IconCircleLabelList"/>
    <dgm:cxn modelId="{EEA73022-D209-3F4D-8DCC-B96C035EC210}" type="presParOf" srcId="{F9C595FC-1BCA-5941-AE7F-CA7CDE404BA2}" destId="{9C7CAF30-E800-774E-A1A0-E973E5768F1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206766-7818-4A51-B447-FE01E077F1C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DE66C55-AD30-41F4-B039-8E10E1374AB3}">
      <dgm:prSet/>
      <dgm:spPr/>
      <dgm:t>
        <a:bodyPr/>
        <a:lstStyle/>
        <a:p>
          <a:pPr>
            <a:defRPr cap="all"/>
          </a:pPr>
          <a:r>
            <a:rPr lang="en-US"/>
            <a:t>THANK YOU</a:t>
          </a:r>
        </a:p>
      </dgm:t>
    </dgm:pt>
    <dgm:pt modelId="{608021BC-B353-4936-9F7F-063C75FF4D9C}" type="parTrans" cxnId="{1B5260A2-D534-4C8F-9749-82663B8729C7}">
      <dgm:prSet/>
      <dgm:spPr/>
      <dgm:t>
        <a:bodyPr/>
        <a:lstStyle/>
        <a:p>
          <a:endParaRPr lang="en-US"/>
        </a:p>
      </dgm:t>
    </dgm:pt>
    <dgm:pt modelId="{802FA286-8F22-4516-9E32-ED13CF202D7C}" type="sibTrans" cxnId="{1B5260A2-D534-4C8F-9749-82663B8729C7}">
      <dgm:prSet/>
      <dgm:spPr/>
      <dgm:t>
        <a:bodyPr/>
        <a:lstStyle/>
        <a:p>
          <a:endParaRPr lang="en-US"/>
        </a:p>
      </dgm:t>
    </dgm:pt>
    <dgm:pt modelId="{A3D98A95-0693-4DA4-910B-50044176543B}">
      <dgm:prSet/>
      <dgm:spPr/>
      <dgm:t>
        <a:bodyPr/>
        <a:lstStyle/>
        <a:p>
          <a:pPr>
            <a:defRPr cap="all"/>
          </a:pPr>
          <a:r>
            <a:rPr lang="en-US"/>
            <a:t>QUESTIONS</a:t>
          </a:r>
        </a:p>
      </dgm:t>
    </dgm:pt>
    <dgm:pt modelId="{3EC002E8-4618-41C2-B96D-24AE6F6C84BD}" type="parTrans" cxnId="{C4FC6525-8D98-449A-A816-CB6A8C24F086}">
      <dgm:prSet/>
      <dgm:spPr/>
      <dgm:t>
        <a:bodyPr/>
        <a:lstStyle/>
        <a:p>
          <a:endParaRPr lang="en-US"/>
        </a:p>
      </dgm:t>
    </dgm:pt>
    <dgm:pt modelId="{F3614757-3AB4-4F25-BB78-C0FA0A89093A}" type="sibTrans" cxnId="{C4FC6525-8D98-449A-A816-CB6A8C24F086}">
      <dgm:prSet/>
      <dgm:spPr/>
      <dgm:t>
        <a:bodyPr/>
        <a:lstStyle/>
        <a:p>
          <a:endParaRPr lang="en-US"/>
        </a:p>
      </dgm:t>
    </dgm:pt>
    <dgm:pt modelId="{1B3EC61B-F169-4779-A420-E445BC050467}" type="pres">
      <dgm:prSet presAssocID="{E9206766-7818-4A51-B447-FE01E077F1C7}" presName="root" presStyleCnt="0">
        <dgm:presLayoutVars>
          <dgm:dir/>
          <dgm:resizeHandles val="exact"/>
        </dgm:presLayoutVars>
      </dgm:prSet>
      <dgm:spPr/>
    </dgm:pt>
    <dgm:pt modelId="{68DF6298-4BD9-48BB-BA2E-3624D03A9F2B}" type="pres">
      <dgm:prSet presAssocID="{BDE66C55-AD30-41F4-B039-8E10E1374AB3}" presName="compNode" presStyleCnt="0"/>
      <dgm:spPr/>
    </dgm:pt>
    <dgm:pt modelId="{344FDF32-C19C-40BC-BD27-0204FC8114DF}" type="pres">
      <dgm:prSet presAssocID="{BDE66C55-AD30-41F4-B039-8E10E1374AB3}" presName="iconBgRect" presStyleLbl="bgShp" presStyleIdx="0" presStyleCnt="2"/>
      <dgm:spPr>
        <a:prstGeom prst="round2DiagRect">
          <a:avLst>
            <a:gd name="adj1" fmla="val 29727"/>
            <a:gd name="adj2" fmla="val 0"/>
          </a:avLst>
        </a:prstGeom>
      </dgm:spPr>
    </dgm:pt>
    <dgm:pt modelId="{DC44A783-76AC-462A-B0C6-52F7E512E6B6}" type="pres">
      <dgm:prSet presAssocID="{BDE66C55-AD30-41F4-B039-8E10E1374AB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iling Face with No Fill"/>
        </a:ext>
      </dgm:extLst>
    </dgm:pt>
    <dgm:pt modelId="{64EABF54-45B0-4BD0-9288-FDFEA6A1C130}" type="pres">
      <dgm:prSet presAssocID="{BDE66C55-AD30-41F4-B039-8E10E1374AB3}" presName="spaceRect" presStyleCnt="0"/>
      <dgm:spPr/>
    </dgm:pt>
    <dgm:pt modelId="{C334E0B7-4180-4F7B-89EF-0806DBBA0A9B}" type="pres">
      <dgm:prSet presAssocID="{BDE66C55-AD30-41F4-B039-8E10E1374AB3}" presName="textRect" presStyleLbl="revTx" presStyleIdx="0" presStyleCnt="2">
        <dgm:presLayoutVars>
          <dgm:chMax val="1"/>
          <dgm:chPref val="1"/>
        </dgm:presLayoutVars>
      </dgm:prSet>
      <dgm:spPr/>
    </dgm:pt>
    <dgm:pt modelId="{28E5323B-C685-43A9-8A01-970C79D2C4BD}" type="pres">
      <dgm:prSet presAssocID="{802FA286-8F22-4516-9E32-ED13CF202D7C}" presName="sibTrans" presStyleCnt="0"/>
      <dgm:spPr/>
    </dgm:pt>
    <dgm:pt modelId="{3C347E12-C7A2-44DA-AF28-8FECC46208CF}" type="pres">
      <dgm:prSet presAssocID="{A3D98A95-0693-4DA4-910B-50044176543B}" presName="compNode" presStyleCnt="0"/>
      <dgm:spPr/>
    </dgm:pt>
    <dgm:pt modelId="{8DDAC2E2-9A47-4DFE-9842-E4B2F1B08977}" type="pres">
      <dgm:prSet presAssocID="{A3D98A95-0693-4DA4-910B-50044176543B}" presName="iconBgRect" presStyleLbl="bgShp" presStyleIdx="1" presStyleCnt="2"/>
      <dgm:spPr>
        <a:prstGeom prst="round2DiagRect">
          <a:avLst>
            <a:gd name="adj1" fmla="val 29727"/>
            <a:gd name="adj2" fmla="val 0"/>
          </a:avLst>
        </a:prstGeom>
      </dgm:spPr>
    </dgm:pt>
    <dgm:pt modelId="{1634853E-4A3D-4E82-BF88-B68D7FF0D610}" type="pres">
      <dgm:prSet presAssocID="{A3D98A95-0693-4DA4-910B-50044176543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7E464B8D-7014-4F01-A081-741376F1B905}" type="pres">
      <dgm:prSet presAssocID="{A3D98A95-0693-4DA4-910B-50044176543B}" presName="spaceRect" presStyleCnt="0"/>
      <dgm:spPr/>
    </dgm:pt>
    <dgm:pt modelId="{7C190D9B-17FB-4631-BCA1-8CEF4999B1DB}" type="pres">
      <dgm:prSet presAssocID="{A3D98A95-0693-4DA4-910B-50044176543B}" presName="textRect" presStyleLbl="revTx" presStyleIdx="1" presStyleCnt="2">
        <dgm:presLayoutVars>
          <dgm:chMax val="1"/>
          <dgm:chPref val="1"/>
        </dgm:presLayoutVars>
      </dgm:prSet>
      <dgm:spPr/>
    </dgm:pt>
  </dgm:ptLst>
  <dgm:cxnLst>
    <dgm:cxn modelId="{C4FC6525-8D98-449A-A816-CB6A8C24F086}" srcId="{E9206766-7818-4A51-B447-FE01E077F1C7}" destId="{A3D98A95-0693-4DA4-910B-50044176543B}" srcOrd="1" destOrd="0" parTransId="{3EC002E8-4618-41C2-B96D-24AE6F6C84BD}" sibTransId="{F3614757-3AB4-4F25-BB78-C0FA0A89093A}"/>
    <dgm:cxn modelId="{48B93C3B-90EA-4F7D-825E-E8A41258A5DF}" type="presOf" srcId="{A3D98A95-0693-4DA4-910B-50044176543B}" destId="{7C190D9B-17FB-4631-BCA1-8CEF4999B1DB}" srcOrd="0" destOrd="0" presId="urn:microsoft.com/office/officeart/2018/5/layout/IconLeafLabelList"/>
    <dgm:cxn modelId="{4CC90649-D0A3-4830-BBDC-C2DA2A6626DF}" type="presOf" srcId="{E9206766-7818-4A51-B447-FE01E077F1C7}" destId="{1B3EC61B-F169-4779-A420-E445BC050467}" srcOrd="0" destOrd="0" presId="urn:microsoft.com/office/officeart/2018/5/layout/IconLeafLabelList"/>
    <dgm:cxn modelId="{1B5260A2-D534-4C8F-9749-82663B8729C7}" srcId="{E9206766-7818-4A51-B447-FE01E077F1C7}" destId="{BDE66C55-AD30-41F4-B039-8E10E1374AB3}" srcOrd="0" destOrd="0" parTransId="{608021BC-B353-4936-9F7F-063C75FF4D9C}" sibTransId="{802FA286-8F22-4516-9E32-ED13CF202D7C}"/>
    <dgm:cxn modelId="{4BF8B6FF-9057-44A6-A0AD-85F3C0257D16}" type="presOf" srcId="{BDE66C55-AD30-41F4-B039-8E10E1374AB3}" destId="{C334E0B7-4180-4F7B-89EF-0806DBBA0A9B}" srcOrd="0" destOrd="0" presId="urn:microsoft.com/office/officeart/2018/5/layout/IconLeafLabelList"/>
    <dgm:cxn modelId="{3DD4C4DF-56D2-4787-B959-4CF2B1D7AE38}" type="presParOf" srcId="{1B3EC61B-F169-4779-A420-E445BC050467}" destId="{68DF6298-4BD9-48BB-BA2E-3624D03A9F2B}" srcOrd="0" destOrd="0" presId="urn:microsoft.com/office/officeart/2018/5/layout/IconLeafLabelList"/>
    <dgm:cxn modelId="{E998E4A4-D410-428A-BA69-3165A232697E}" type="presParOf" srcId="{68DF6298-4BD9-48BB-BA2E-3624D03A9F2B}" destId="{344FDF32-C19C-40BC-BD27-0204FC8114DF}" srcOrd="0" destOrd="0" presId="urn:microsoft.com/office/officeart/2018/5/layout/IconLeafLabelList"/>
    <dgm:cxn modelId="{DD0408A4-5B59-43AD-9027-7F90833784F3}" type="presParOf" srcId="{68DF6298-4BD9-48BB-BA2E-3624D03A9F2B}" destId="{DC44A783-76AC-462A-B0C6-52F7E512E6B6}" srcOrd="1" destOrd="0" presId="urn:microsoft.com/office/officeart/2018/5/layout/IconLeafLabelList"/>
    <dgm:cxn modelId="{506BFE27-D739-4FC2-801A-667C9B625AB4}" type="presParOf" srcId="{68DF6298-4BD9-48BB-BA2E-3624D03A9F2B}" destId="{64EABF54-45B0-4BD0-9288-FDFEA6A1C130}" srcOrd="2" destOrd="0" presId="urn:microsoft.com/office/officeart/2018/5/layout/IconLeafLabelList"/>
    <dgm:cxn modelId="{735C0907-C518-47D7-89E8-4EF327BFB8E8}" type="presParOf" srcId="{68DF6298-4BD9-48BB-BA2E-3624D03A9F2B}" destId="{C334E0B7-4180-4F7B-89EF-0806DBBA0A9B}" srcOrd="3" destOrd="0" presId="urn:microsoft.com/office/officeart/2018/5/layout/IconLeafLabelList"/>
    <dgm:cxn modelId="{43BD5279-8404-4A33-A959-F86909892927}" type="presParOf" srcId="{1B3EC61B-F169-4779-A420-E445BC050467}" destId="{28E5323B-C685-43A9-8A01-970C79D2C4BD}" srcOrd="1" destOrd="0" presId="urn:microsoft.com/office/officeart/2018/5/layout/IconLeafLabelList"/>
    <dgm:cxn modelId="{380C6873-CD74-4A52-86D9-F3AA0DFD9C04}" type="presParOf" srcId="{1B3EC61B-F169-4779-A420-E445BC050467}" destId="{3C347E12-C7A2-44DA-AF28-8FECC46208CF}" srcOrd="2" destOrd="0" presId="urn:microsoft.com/office/officeart/2018/5/layout/IconLeafLabelList"/>
    <dgm:cxn modelId="{5D715EED-4C2F-472E-90CC-0F606BF1B9C9}" type="presParOf" srcId="{3C347E12-C7A2-44DA-AF28-8FECC46208CF}" destId="{8DDAC2E2-9A47-4DFE-9842-E4B2F1B08977}" srcOrd="0" destOrd="0" presId="urn:microsoft.com/office/officeart/2018/5/layout/IconLeafLabelList"/>
    <dgm:cxn modelId="{36A5C279-5EB3-4849-9824-DDA1F271ACEA}" type="presParOf" srcId="{3C347E12-C7A2-44DA-AF28-8FECC46208CF}" destId="{1634853E-4A3D-4E82-BF88-B68D7FF0D610}" srcOrd="1" destOrd="0" presId="urn:microsoft.com/office/officeart/2018/5/layout/IconLeafLabelList"/>
    <dgm:cxn modelId="{C492399E-3CC6-4506-A58E-49B924AC85FD}" type="presParOf" srcId="{3C347E12-C7A2-44DA-AF28-8FECC46208CF}" destId="{7E464B8D-7014-4F01-A081-741376F1B905}" srcOrd="2" destOrd="0" presId="urn:microsoft.com/office/officeart/2018/5/layout/IconLeafLabelList"/>
    <dgm:cxn modelId="{E1056EC7-6784-4AB7-8A41-7F0B67619745}" type="presParOf" srcId="{3C347E12-C7A2-44DA-AF28-8FECC46208CF}" destId="{7C190D9B-17FB-4631-BCA1-8CEF4999B1DB}"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68409A-3853-C944-B400-78B0D1B24018}">
      <dsp:nvSpPr>
        <dsp:cNvPr id="0" name=""/>
        <dsp:cNvSpPr/>
      </dsp:nvSpPr>
      <dsp:spPr>
        <a:xfrm>
          <a:off x="0" y="41398"/>
          <a:ext cx="6949440" cy="13525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Binary talking/not-talking classifier</a:t>
          </a:r>
        </a:p>
      </dsp:txBody>
      <dsp:txXfrm>
        <a:off x="66025" y="107423"/>
        <a:ext cx="6817390" cy="1220470"/>
      </dsp:txXfrm>
    </dsp:sp>
    <dsp:sp modelId="{CDCC02D8-D86F-FA4B-B28C-525418B634B2}">
      <dsp:nvSpPr>
        <dsp:cNvPr id="0" name=""/>
        <dsp:cNvSpPr/>
      </dsp:nvSpPr>
      <dsp:spPr>
        <a:xfrm>
          <a:off x="0" y="1491838"/>
          <a:ext cx="6949440" cy="1352520"/>
        </a:xfrm>
        <a:prstGeom prst="roundRect">
          <a:avLst/>
        </a:prstGeom>
        <a:solidFill>
          <a:schemeClr val="accent5">
            <a:hueOff val="3038109"/>
            <a:satOff val="-1368"/>
            <a:lumOff val="-16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Facial-landmark feature pipeline</a:t>
          </a:r>
        </a:p>
      </dsp:txBody>
      <dsp:txXfrm>
        <a:off x="66025" y="1557863"/>
        <a:ext cx="6817390" cy="1220470"/>
      </dsp:txXfrm>
    </dsp:sp>
    <dsp:sp modelId="{446D138A-13B2-1D4F-A42B-B960140B352D}">
      <dsp:nvSpPr>
        <dsp:cNvPr id="0" name=""/>
        <dsp:cNvSpPr/>
      </dsp:nvSpPr>
      <dsp:spPr>
        <a:xfrm>
          <a:off x="0" y="2942278"/>
          <a:ext cx="6949440" cy="1352520"/>
        </a:xfrm>
        <a:prstGeom prst="roundRect">
          <a:avLst/>
        </a:prstGeom>
        <a:solidFill>
          <a:schemeClr val="accent5">
            <a:hueOff val="6076219"/>
            <a:satOff val="-2736"/>
            <a:lumOff val="-33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Custom NumPy neural network</a:t>
          </a:r>
        </a:p>
      </dsp:txBody>
      <dsp:txXfrm>
        <a:off x="66025" y="3008303"/>
        <a:ext cx="6817390" cy="1220470"/>
      </dsp:txXfrm>
    </dsp:sp>
    <dsp:sp modelId="{629B3E89-ACBD-4A44-8582-35F6698609A0}">
      <dsp:nvSpPr>
        <dsp:cNvPr id="0" name=""/>
        <dsp:cNvSpPr/>
      </dsp:nvSpPr>
      <dsp:spPr>
        <a:xfrm>
          <a:off x="0" y="4392718"/>
          <a:ext cx="6949440" cy="1352520"/>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Real-time CPU inference</a:t>
          </a:r>
        </a:p>
      </dsp:txBody>
      <dsp:txXfrm>
        <a:off x="66025" y="4458743"/>
        <a:ext cx="6817390" cy="1220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D915D8-ABC8-47EF-BF25-0A44B2B5DC00}">
      <dsp:nvSpPr>
        <dsp:cNvPr id="0" name=""/>
        <dsp:cNvSpPr/>
      </dsp:nvSpPr>
      <dsp:spPr>
        <a:xfrm>
          <a:off x="327597" y="1207333"/>
          <a:ext cx="1016507" cy="101650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39EB83-095A-4BF0-A1B4-86953B4BBE27}">
      <dsp:nvSpPr>
        <dsp:cNvPr id="0" name=""/>
        <dsp:cNvSpPr/>
      </dsp:nvSpPr>
      <dsp:spPr>
        <a:xfrm>
          <a:off x="544230" y="1423966"/>
          <a:ext cx="583242" cy="583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F9F241-2591-43ED-92EB-72B60E15F22A}">
      <dsp:nvSpPr>
        <dsp:cNvPr id="0" name=""/>
        <dsp:cNvSpPr/>
      </dsp:nvSpPr>
      <dsp:spPr>
        <a:xfrm>
          <a:off x="2648" y="2540458"/>
          <a:ext cx="1666406" cy="666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Test-set performance</a:t>
          </a:r>
          <a:endParaRPr lang="en-US" sz="1600" kern="1200" dirty="0"/>
        </a:p>
      </dsp:txBody>
      <dsp:txXfrm>
        <a:off x="2648" y="2540458"/>
        <a:ext cx="1666406" cy="666562"/>
      </dsp:txXfrm>
    </dsp:sp>
    <dsp:sp modelId="{7CFDBBF3-D459-4127-96B0-6FA776F8059C}">
      <dsp:nvSpPr>
        <dsp:cNvPr id="0" name=""/>
        <dsp:cNvSpPr/>
      </dsp:nvSpPr>
      <dsp:spPr>
        <a:xfrm>
          <a:off x="2285624" y="1207333"/>
          <a:ext cx="1016507" cy="101650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F9E482-89C6-4C32-89C9-DEE76F1023C1}">
      <dsp:nvSpPr>
        <dsp:cNvPr id="0" name=""/>
        <dsp:cNvSpPr/>
      </dsp:nvSpPr>
      <dsp:spPr>
        <a:xfrm>
          <a:off x="2502257" y="1423966"/>
          <a:ext cx="583242" cy="583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C181F5-470E-44A9-87F3-0C8CB489D2DB}">
      <dsp:nvSpPr>
        <dsp:cNvPr id="0" name=""/>
        <dsp:cNvSpPr/>
      </dsp:nvSpPr>
      <dsp:spPr>
        <a:xfrm>
          <a:off x="1960675" y="2540458"/>
          <a:ext cx="1666406" cy="666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Accuracy: </a:t>
          </a:r>
          <a:r>
            <a:rPr lang="en-US" sz="1600" b="1" kern="1200" dirty="0"/>
            <a:t>91.7%</a:t>
          </a:r>
          <a:endParaRPr lang="en-US" sz="1600" kern="1200" dirty="0"/>
        </a:p>
      </dsp:txBody>
      <dsp:txXfrm>
        <a:off x="1960675" y="2540458"/>
        <a:ext cx="1666406" cy="666562"/>
      </dsp:txXfrm>
    </dsp:sp>
    <dsp:sp modelId="{AE8DF8D2-2874-49D7-8ACE-AE639F490F24}">
      <dsp:nvSpPr>
        <dsp:cNvPr id="0" name=""/>
        <dsp:cNvSpPr/>
      </dsp:nvSpPr>
      <dsp:spPr>
        <a:xfrm>
          <a:off x="4243651" y="1207333"/>
          <a:ext cx="1016507" cy="101650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9E841-5C30-4FE4-8E64-7584E7468E69}">
      <dsp:nvSpPr>
        <dsp:cNvPr id="0" name=""/>
        <dsp:cNvSpPr/>
      </dsp:nvSpPr>
      <dsp:spPr>
        <a:xfrm>
          <a:off x="4460284" y="1423966"/>
          <a:ext cx="583242" cy="5832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A9C1D9-936F-43B8-8637-99DFEFAC3586}">
      <dsp:nvSpPr>
        <dsp:cNvPr id="0" name=""/>
        <dsp:cNvSpPr/>
      </dsp:nvSpPr>
      <dsp:spPr>
        <a:xfrm>
          <a:off x="3918702" y="2540458"/>
          <a:ext cx="1666406" cy="666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Precision: </a:t>
          </a:r>
          <a:r>
            <a:rPr lang="en-US" sz="1600" b="1" kern="1200"/>
            <a:t>89.3%</a:t>
          </a:r>
          <a:endParaRPr lang="en-US" sz="1600" kern="1200"/>
        </a:p>
      </dsp:txBody>
      <dsp:txXfrm>
        <a:off x="3918702" y="2540458"/>
        <a:ext cx="1666406" cy="666562"/>
      </dsp:txXfrm>
    </dsp:sp>
    <dsp:sp modelId="{31C34499-8D1A-4906-A3E8-693BE916EFC6}">
      <dsp:nvSpPr>
        <dsp:cNvPr id="0" name=""/>
        <dsp:cNvSpPr/>
      </dsp:nvSpPr>
      <dsp:spPr>
        <a:xfrm>
          <a:off x="6201679" y="1207333"/>
          <a:ext cx="1016507" cy="101650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F84B17-75D9-46CD-8810-2953CB01BED3}">
      <dsp:nvSpPr>
        <dsp:cNvPr id="0" name=""/>
        <dsp:cNvSpPr/>
      </dsp:nvSpPr>
      <dsp:spPr>
        <a:xfrm>
          <a:off x="6418312" y="1423966"/>
          <a:ext cx="583242" cy="5832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555B44-A4C7-4B32-9061-247585C70CEC}">
      <dsp:nvSpPr>
        <dsp:cNvPr id="0" name=""/>
        <dsp:cNvSpPr/>
      </dsp:nvSpPr>
      <dsp:spPr>
        <a:xfrm>
          <a:off x="6091129" y="2540458"/>
          <a:ext cx="1237606" cy="666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Recall: </a:t>
          </a:r>
          <a:r>
            <a:rPr lang="en-US" sz="1600" b="1" kern="1200" dirty="0"/>
            <a:t>88.0%</a:t>
          </a:r>
          <a:endParaRPr lang="en-US" sz="1600" kern="1200" dirty="0"/>
        </a:p>
      </dsp:txBody>
      <dsp:txXfrm>
        <a:off x="6091129" y="2540458"/>
        <a:ext cx="1237606" cy="666562"/>
      </dsp:txXfrm>
    </dsp:sp>
    <dsp:sp modelId="{5850D665-F808-405C-9E18-1BBEBF1DF6FC}">
      <dsp:nvSpPr>
        <dsp:cNvPr id="0" name=""/>
        <dsp:cNvSpPr/>
      </dsp:nvSpPr>
      <dsp:spPr>
        <a:xfrm>
          <a:off x="8159706" y="1207333"/>
          <a:ext cx="1016507" cy="1016507"/>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B45F3B-188F-4567-B700-C249144419B1}">
      <dsp:nvSpPr>
        <dsp:cNvPr id="0" name=""/>
        <dsp:cNvSpPr/>
      </dsp:nvSpPr>
      <dsp:spPr>
        <a:xfrm>
          <a:off x="8376339" y="1423966"/>
          <a:ext cx="583242" cy="5832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220DA6-3732-4C04-A917-2715C70DC52C}">
      <dsp:nvSpPr>
        <dsp:cNvPr id="0" name=""/>
        <dsp:cNvSpPr/>
      </dsp:nvSpPr>
      <dsp:spPr>
        <a:xfrm>
          <a:off x="7834757" y="2540458"/>
          <a:ext cx="1666406" cy="666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F1 score: </a:t>
          </a:r>
          <a:r>
            <a:rPr lang="en-US" sz="1600" b="1" kern="1200"/>
            <a:t>88.6%</a:t>
          </a:r>
          <a:endParaRPr lang="en-US" sz="1600" kern="1200"/>
        </a:p>
      </dsp:txBody>
      <dsp:txXfrm>
        <a:off x="7834757" y="2540458"/>
        <a:ext cx="1666406" cy="666562"/>
      </dsp:txXfrm>
    </dsp:sp>
    <dsp:sp modelId="{44509FBE-DAF5-4041-A9AD-A4E7F65DA919}">
      <dsp:nvSpPr>
        <dsp:cNvPr id="0" name=""/>
        <dsp:cNvSpPr/>
      </dsp:nvSpPr>
      <dsp:spPr>
        <a:xfrm>
          <a:off x="10117733" y="1207333"/>
          <a:ext cx="1016507" cy="101650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08166D-1555-3042-A049-7285B7F8F28F}">
      <dsp:nvSpPr>
        <dsp:cNvPr id="0" name=""/>
        <dsp:cNvSpPr/>
      </dsp:nvSpPr>
      <dsp:spPr>
        <a:xfrm>
          <a:off x="10334366" y="1423966"/>
          <a:ext cx="583242" cy="583242"/>
        </a:xfrm>
        <a:prstGeom prst="rect">
          <a:avLst/>
        </a:prstGeom>
        <a:blipFill>
          <a:blip xmlns:r="http://schemas.openxmlformats.org/officeDocument/2006/relationships" r:embed="rId11"/>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7CAF30-E800-774E-A1A0-E973E5768F14}">
      <dsp:nvSpPr>
        <dsp:cNvPr id="0" name=""/>
        <dsp:cNvSpPr/>
      </dsp:nvSpPr>
      <dsp:spPr>
        <a:xfrm>
          <a:off x="9792784" y="2540458"/>
          <a:ext cx="1666406" cy="666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dirty="0"/>
            <a:t>&gt;= 30 FPS inference</a:t>
          </a:r>
        </a:p>
      </dsp:txBody>
      <dsp:txXfrm>
        <a:off x="9792784" y="2540458"/>
        <a:ext cx="1666406" cy="666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FDF32-C19C-40BC-BD27-0204FC8114DF}">
      <dsp:nvSpPr>
        <dsp:cNvPr id="0" name=""/>
        <dsp:cNvSpPr/>
      </dsp:nvSpPr>
      <dsp:spPr>
        <a:xfrm>
          <a:off x="1954675" y="233215"/>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44A783-76AC-462A-B0C6-52F7E512E6B6}">
      <dsp:nvSpPr>
        <dsp:cNvPr id="0" name=""/>
        <dsp:cNvSpPr/>
      </dsp:nvSpPr>
      <dsp:spPr>
        <a:xfrm>
          <a:off x="2422675" y="701215"/>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34E0B7-4180-4F7B-89EF-0806DBBA0A9B}">
      <dsp:nvSpPr>
        <dsp:cNvPr id="0" name=""/>
        <dsp:cNvSpPr/>
      </dsp:nvSpPr>
      <dsp:spPr>
        <a:xfrm>
          <a:off x="1252675" y="3113215"/>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THANK YOU</a:t>
          </a:r>
        </a:p>
      </dsp:txBody>
      <dsp:txXfrm>
        <a:off x="1252675" y="3113215"/>
        <a:ext cx="3600000" cy="720000"/>
      </dsp:txXfrm>
    </dsp:sp>
    <dsp:sp modelId="{8DDAC2E2-9A47-4DFE-9842-E4B2F1B08977}">
      <dsp:nvSpPr>
        <dsp:cNvPr id="0" name=""/>
        <dsp:cNvSpPr/>
      </dsp:nvSpPr>
      <dsp:spPr>
        <a:xfrm>
          <a:off x="6184675" y="233215"/>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34853E-4A3D-4E82-BF88-B68D7FF0D610}">
      <dsp:nvSpPr>
        <dsp:cNvPr id="0" name=""/>
        <dsp:cNvSpPr/>
      </dsp:nvSpPr>
      <dsp:spPr>
        <a:xfrm>
          <a:off x="6652675" y="701215"/>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190D9B-17FB-4631-BCA1-8CEF4999B1DB}">
      <dsp:nvSpPr>
        <dsp:cNvPr id="0" name=""/>
        <dsp:cNvSpPr/>
      </dsp:nvSpPr>
      <dsp:spPr>
        <a:xfrm>
          <a:off x="5482675" y="3113215"/>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955800">
            <a:lnSpc>
              <a:spcPct val="90000"/>
            </a:lnSpc>
            <a:spcBef>
              <a:spcPct val="0"/>
            </a:spcBef>
            <a:spcAft>
              <a:spcPct val="35000"/>
            </a:spcAft>
            <a:buNone/>
            <a:defRPr cap="all"/>
          </a:pPr>
          <a:r>
            <a:rPr lang="en-US" sz="4400" kern="1200"/>
            <a:t>QUESTIONS</a:t>
          </a:r>
        </a:p>
      </dsp:txBody>
      <dsp:txXfrm>
        <a:off x="5482675" y="3113215"/>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5FB19-C378-4287-8616-D5AEF51E09A9}"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E679F9-C96C-4D62-AB97-A26DAF2F42F8}" type="slidenum">
              <a:rPr lang="en-US" smtClean="0"/>
              <a:t>‹#›</a:t>
            </a:fld>
            <a:endParaRPr lang="en-US"/>
          </a:p>
        </p:txBody>
      </p:sp>
    </p:spTree>
    <p:extLst>
      <p:ext uri="{BB962C8B-B14F-4D97-AF65-F5344CB8AC3E}">
        <p14:creationId xmlns:p14="http://schemas.microsoft.com/office/powerpoint/2010/main" val="254125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project builds a lightweight mouth-movement detector that classifies talking versus not talking in real time. It runs on standard CPU hardware and uses facial landmarks plus a compact neural network.</a:t>
            </a:r>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1</a:t>
            </a:fld>
            <a:endParaRPr lang="en-US"/>
          </a:p>
        </p:txBody>
      </p:sp>
    </p:spTree>
    <p:extLst>
      <p:ext uri="{BB962C8B-B14F-4D97-AF65-F5344CB8AC3E}">
        <p14:creationId xmlns:p14="http://schemas.microsoft.com/office/powerpoint/2010/main" val="347125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came from my LLM-powered meeting-summarization tool. In real meetings, people use low-quality microphones, leading to bad speaker </a:t>
            </a:r>
            <a:r>
              <a:rPr lang="en-US" dirty="0" err="1"/>
              <a:t>diarization</a:t>
            </a:r>
            <a:r>
              <a:rPr lang="en-US" dirty="0"/>
              <a:t>. Overlapping speech also breaks audio-based methods. Visual mouth motion is much more reliable. So this mouth-movement model is meant to be a complementary signal to help the </a:t>
            </a:r>
            <a:r>
              <a:rPr lang="en-US" dirty="0" err="1"/>
              <a:t>diarization</a:t>
            </a:r>
            <a:r>
              <a:rPr lang="en-US" dirty="0"/>
              <a:t> pipeline become far more accurate.</a:t>
            </a:r>
          </a:p>
        </p:txBody>
      </p:sp>
      <p:sp>
        <p:nvSpPr>
          <p:cNvPr id="4" name="Slide Number Placeholder 3"/>
          <p:cNvSpPr>
            <a:spLocks noGrp="1"/>
          </p:cNvSpPr>
          <p:nvPr>
            <p:ph type="sldNum" sz="quarter" idx="5"/>
          </p:nvPr>
        </p:nvSpPr>
        <p:spPr/>
        <p:txBody>
          <a:bodyPr/>
          <a:lstStyle/>
          <a:p>
            <a:fld id="{60E679F9-C96C-4D62-AB97-A26DAF2F42F8}" type="slidenum">
              <a:rPr lang="en-US" smtClean="0"/>
              <a:t>2</a:t>
            </a:fld>
            <a:endParaRPr lang="en-US"/>
          </a:p>
        </p:txBody>
      </p:sp>
    </p:spTree>
    <p:extLst>
      <p:ext uri="{BB962C8B-B14F-4D97-AF65-F5344CB8AC3E}">
        <p14:creationId xmlns:p14="http://schemas.microsoft.com/office/powerpoint/2010/main" val="3431547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Jack DeMarinis, and this is my lightweight mouth-movement detection system. It predicts talking versus not talking using only features extracted from facial landmarks. I built the neural network entirely in NumPy, and the whole thing runs in real time on CPU. Today I’ll go through the motivation, data, model, training results, and show a live demo of the final system.</a:t>
            </a:r>
          </a:p>
        </p:txBody>
      </p:sp>
      <p:sp>
        <p:nvSpPr>
          <p:cNvPr id="4" name="Slide Number Placeholder 3"/>
          <p:cNvSpPr>
            <a:spLocks noGrp="1"/>
          </p:cNvSpPr>
          <p:nvPr>
            <p:ph type="sldNum" sz="quarter" idx="5"/>
          </p:nvPr>
        </p:nvSpPr>
        <p:spPr/>
        <p:txBody>
          <a:bodyPr/>
          <a:lstStyle/>
          <a:p>
            <a:fld id="{60E679F9-C96C-4D62-AB97-A26DAF2F42F8}" type="slidenum">
              <a:rPr lang="en-US" smtClean="0"/>
              <a:t>3</a:t>
            </a:fld>
            <a:endParaRPr lang="en-US"/>
          </a:p>
        </p:txBody>
      </p:sp>
    </p:spTree>
    <p:extLst>
      <p:ext uri="{BB962C8B-B14F-4D97-AF65-F5344CB8AC3E}">
        <p14:creationId xmlns:p14="http://schemas.microsoft.com/office/powerpoint/2010/main" val="3311001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starts with </a:t>
            </a:r>
            <a:r>
              <a:rPr lang="en-US" dirty="0" err="1"/>
              <a:t>MediaPipe</a:t>
            </a:r>
            <a:r>
              <a:rPr lang="en-US" dirty="0"/>
              <a:t> for facial landmarks. From those landmarks and surrounding patches, I compute a 38-dimensional feature vector. The vector is normalized and passed to my NumPy neural network. I then smooth the output over a short window to prevent prediction flicker.</a:t>
            </a:r>
          </a:p>
        </p:txBody>
      </p:sp>
      <p:sp>
        <p:nvSpPr>
          <p:cNvPr id="4" name="Slide Number Placeholder 3"/>
          <p:cNvSpPr>
            <a:spLocks noGrp="1"/>
          </p:cNvSpPr>
          <p:nvPr>
            <p:ph type="sldNum" sz="quarter" idx="5"/>
          </p:nvPr>
        </p:nvSpPr>
        <p:spPr/>
        <p:txBody>
          <a:bodyPr/>
          <a:lstStyle/>
          <a:p>
            <a:fld id="{60E679F9-C96C-4D62-AB97-A26DAF2F42F8}" type="slidenum">
              <a:rPr lang="en-US" smtClean="0"/>
              <a:t>4</a:t>
            </a:fld>
            <a:endParaRPr lang="en-US"/>
          </a:p>
        </p:txBody>
      </p:sp>
    </p:spTree>
    <p:extLst>
      <p:ext uri="{BB962C8B-B14F-4D97-AF65-F5344CB8AC3E}">
        <p14:creationId xmlns:p14="http://schemas.microsoft.com/office/powerpoint/2010/main" val="1474551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vector mixes geometry, motion, and texture. That includes the mouth aspect ratio, lip spread, frame-to-frame landmark motion, intensity statistics in the mouth region, and gradient energy. I also add normalized landmark subsets for spatial structure.</a:t>
            </a:r>
          </a:p>
        </p:txBody>
      </p:sp>
      <p:sp>
        <p:nvSpPr>
          <p:cNvPr id="4" name="Slide Number Placeholder 3"/>
          <p:cNvSpPr>
            <a:spLocks noGrp="1"/>
          </p:cNvSpPr>
          <p:nvPr>
            <p:ph type="sldNum" sz="quarter" idx="5"/>
          </p:nvPr>
        </p:nvSpPr>
        <p:spPr/>
        <p:txBody>
          <a:bodyPr/>
          <a:lstStyle/>
          <a:p>
            <a:fld id="{60E679F9-C96C-4D62-AB97-A26DAF2F42F8}" type="slidenum">
              <a:rPr lang="en-US" smtClean="0"/>
              <a:t>5</a:t>
            </a:fld>
            <a:endParaRPr lang="en-US"/>
          </a:p>
        </p:txBody>
      </p:sp>
    </p:spTree>
    <p:extLst>
      <p:ext uri="{BB962C8B-B14F-4D97-AF65-F5344CB8AC3E}">
        <p14:creationId xmlns:p14="http://schemas.microsoft.com/office/powerpoint/2010/main" val="1288390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is intentionally tiny: 38 inputs, 12 hidden units, one sigmoid output. I implemented all forward- and back-prop logic by hand in NumPy. Training uses weighted BCE and L2 regularization. I also use a positive-class weight to boost talking-frame recall.</a:t>
            </a:r>
          </a:p>
        </p:txBody>
      </p:sp>
      <p:sp>
        <p:nvSpPr>
          <p:cNvPr id="4" name="Slide Number Placeholder 3"/>
          <p:cNvSpPr>
            <a:spLocks noGrp="1"/>
          </p:cNvSpPr>
          <p:nvPr>
            <p:ph type="sldNum" sz="quarter" idx="5"/>
          </p:nvPr>
        </p:nvSpPr>
        <p:spPr/>
        <p:txBody>
          <a:bodyPr/>
          <a:lstStyle/>
          <a:p>
            <a:fld id="{60E679F9-C96C-4D62-AB97-A26DAF2F42F8}" type="slidenum">
              <a:rPr lang="en-US" smtClean="0"/>
              <a:t>6</a:t>
            </a:fld>
            <a:endParaRPr lang="en-US"/>
          </a:p>
        </p:txBody>
      </p:sp>
    </p:spTree>
    <p:extLst>
      <p:ext uri="{BB962C8B-B14F-4D97-AF65-F5344CB8AC3E}">
        <p14:creationId xmlns:p14="http://schemas.microsoft.com/office/powerpoint/2010/main" val="4009005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captured labeled frames from my webcam using a custom tool. Each frame is tagged as talking or not talking. All the data paths and labels are stored in a simple CSV. I never train on raw pixels — everything goes through the feature extractor first.</a:t>
            </a:r>
          </a:p>
        </p:txBody>
      </p:sp>
      <p:sp>
        <p:nvSpPr>
          <p:cNvPr id="4" name="Slide Number Placeholder 3"/>
          <p:cNvSpPr>
            <a:spLocks noGrp="1"/>
          </p:cNvSpPr>
          <p:nvPr>
            <p:ph type="sldNum" sz="quarter" idx="5"/>
          </p:nvPr>
        </p:nvSpPr>
        <p:spPr/>
        <p:txBody>
          <a:bodyPr/>
          <a:lstStyle/>
          <a:p>
            <a:fld id="{60E679F9-C96C-4D62-AB97-A26DAF2F42F8}" type="slidenum">
              <a:rPr lang="en-US" smtClean="0"/>
              <a:t>7</a:t>
            </a:fld>
            <a:endParaRPr lang="en-US"/>
          </a:p>
        </p:txBody>
      </p:sp>
    </p:spTree>
    <p:extLst>
      <p:ext uri="{BB962C8B-B14F-4D97-AF65-F5344CB8AC3E}">
        <p14:creationId xmlns:p14="http://schemas.microsoft.com/office/powerpoint/2010/main" val="2226745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stratified splits to keep class proportions stable across training, validation, and test. Training uses mini-batches of 32, a learning rate of 0.05, and early stopping to avoid overfitting. All metrics were logged across the 200 epochs.</a:t>
            </a:r>
          </a:p>
        </p:txBody>
      </p:sp>
      <p:sp>
        <p:nvSpPr>
          <p:cNvPr id="4" name="Slide Number Placeholder 3"/>
          <p:cNvSpPr>
            <a:spLocks noGrp="1"/>
          </p:cNvSpPr>
          <p:nvPr>
            <p:ph type="sldNum" sz="quarter" idx="5"/>
          </p:nvPr>
        </p:nvSpPr>
        <p:spPr/>
        <p:txBody>
          <a:bodyPr/>
          <a:lstStyle/>
          <a:p>
            <a:fld id="{60E679F9-C96C-4D62-AB97-A26DAF2F42F8}" type="slidenum">
              <a:rPr lang="en-US" smtClean="0"/>
              <a:t>8</a:t>
            </a:fld>
            <a:endParaRPr lang="en-US"/>
          </a:p>
        </p:txBody>
      </p:sp>
    </p:spTree>
    <p:extLst>
      <p:ext uri="{BB962C8B-B14F-4D97-AF65-F5344CB8AC3E}">
        <p14:creationId xmlns:p14="http://schemas.microsoft.com/office/powerpoint/2010/main" val="2436847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inspected the data, it was very imbalanced: way more not-talking frames. The model immediately biased toward predicting silence. That tanked recall on talking frames. Since missing speech is unacceptable, I needed better balance.</a:t>
            </a:r>
          </a:p>
        </p:txBody>
      </p:sp>
      <p:sp>
        <p:nvSpPr>
          <p:cNvPr id="4" name="Slide Number Placeholder 3"/>
          <p:cNvSpPr>
            <a:spLocks noGrp="1"/>
          </p:cNvSpPr>
          <p:nvPr>
            <p:ph type="sldNum" sz="quarter" idx="5"/>
          </p:nvPr>
        </p:nvSpPr>
        <p:spPr/>
        <p:txBody>
          <a:bodyPr/>
          <a:lstStyle/>
          <a:p>
            <a:fld id="{60E679F9-C96C-4D62-AB97-A26DAF2F42F8}" type="slidenum">
              <a:rPr lang="en-US" smtClean="0"/>
              <a:t>9</a:t>
            </a:fld>
            <a:endParaRPr lang="en-US"/>
          </a:p>
        </p:txBody>
      </p:sp>
    </p:spTree>
    <p:extLst>
      <p:ext uri="{BB962C8B-B14F-4D97-AF65-F5344CB8AC3E}">
        <p14:creationId xmlns:p14="http://schemas.microsoft.com/office/powerpoint/2010/main" val="2973694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fix the class imbalance, I used my augmentation script to duplicate talking frames with small transformations like flips and color jitter. This boosted the number of positive examples without distorting the mouth geometry. I also added a positive-class weight to the loss function, which forces the model to penalize missed talking frames more heavily. Together, these two changes significantly improved recall and made the model much more responsive to actual speech activity.</a:t>
            </a:r>
          </a:p>
        </p:txBody>
      </p:sp>
      <p:sp>
        <p:nvSpPr>
          <p:cNvPr id="4" name="Slide Number Placeholder 3"/>
          <p:cNvSpPr>
            <a:spLocks noGrp="1"/>
          </p:cNvSpPr>
          <p:nvPr>
            <p:ph type="sldNum" sz="quarter" idx="5"/>
          </p:nvPr>
        </p:nvSpPr>
        <p:spPr/>
        <p:txBody>
          <a:bodyPr/>
          <a:lstStyle/>
          <a:p>
            <a:fld id="{60E679F9-C96C-4D62-AB97-A26DAF2F42F8}" type="slidenum">
              <a:rPr lang="en-US" smtClean="0"/>
              <a:t>10</a:t>
            </a:fld>
            <a:endParaRPr lang="en-US"/>
          </a:p>
        </p:txBody>
      </p:sp>
    </p:spTree>
    <p:extLst>
      <p:ext uri="{BB962C8B-B14F-4D97-AF65-F5344CB8AC3E}">
        <p14:creationId xmlns:p14="http://schemas.microsoft.com/office/powerpoint/2010/main" val="2058497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curves show smooth convergence with validation accuracy staying high throughout. There’s no divergence or instability. That gave me confidence to move forward to testing.</a:t>
            </a:r>
          </a:p>
        </p:txBody>
      </p:sp>
      <p:sp>
        <p:nvSpPr>
          <p:cNvPr id="4" name="Slide Number Placeholder 3"/>
          <p:cNvSpPr>
            <a:spLocks noGrp="1"/>
          </p:cNvSpPr>
          <p:nvPr>
            <p:ph type="sldNum" sz="quarter" idx="5"/>
          </p:nvPr>
        </p:nvSpPr>
        <p:spPr/>
        <p:txBody>
          <a:bodyPr/>
          <a:lstStyle/>
          <a:p>
            <a:fld id="{60E679F9-C96C-4D62-AB97-A26DAF2F42F8}" type="slidenum">
              <a:rPr lang="en-US" smtClean="0"/>
              <a:t>11</a:t>
            </a:fld>
            <a:endParaRPr lang="en-US"/>
          </a:p>
        </p:txBody>
      </p:sp>
    </p:spTree>
    <p:extLst>
      <p:ext uri="{BB962C8B-B14F-4D97-AF65-F5344CB8AC3E}">
        <p14:creationId xmlns:p14="http://schemas.microsoft.com/office/powerpoint/2010/main" val="24984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test set, the model reached 91.7 percent accuracy, 89.3 percent precision, 88 percent recall, and an F1 of 88.6. This shows the model can reliably detect speech activity and isn’t just exploiting class imbalance.</a:t>
            </a:r>
          </a:p>
        </p:txBody>
      </p:sp>
      <p:sp>
        <p:nvSpPr>
          <p:cNvPr id="4" name="Slide Number Placeholder 3"/>
          <p:cNvSpPr>
            <a:spLocks noGrp="1"/>
          </p:cNvSpPr>
          <p:nvPr>
            <p:ph type="sldNum" sz="quarter" idx="5"/>
          </p:nvPr>
        </p:nvSpPr>
        <p:spPr/>
        <p:txBody>
          <a:bodyPr/>
          <a:lstStyle/>
          <a:p>
            <a:fld id="{60E679F9-C96C-4D62-AB97-A26DAF2F42F8}" type="slidenum">
              <a:rPr lang="en-US" smtClean="0"/>
              <a:t>12</a:t>
            </a:fld>
            <a:endParaRPr lang="en-US"/>
          </a:p>
        </p:txBody>
      </p:sp>
    </p:spTree>
    <p:extLst>
      <p:ext uri="{BB962C8B-B14F-4D97-AF65-F5344CB8AC3E}">
        <p14:creationId xmlns:p14="http://schemas.microsoft.com/office/powerpoint/2010/main" val="2677838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works!</a:t>
            </a:r>
          </a:p>
        </p:txBody>
      </p:sp>
      <p:sp>
        <p:nvSpPr>
          <p:cNvPr id="4" name="Slide Number Placeholder 3"/>
          <p:cNvSpPr>
            <a:spLocks noGrp="1"/>
          </p:cNvSpPr>
          <p:nvPr>
            <p:ph type="sldNum" sz="quarter" idx="5"/>
          </p:nvPr>
        </p:nvSpPr>
        <p:spPr/>
        <p:txBody>
          <a:bodyPr/>
          <a:lstStyle/>
          <a:p>
            <a:fld id="{60E679F9-C96C-4D62-AB97-A26DAF2F42F8}" type="slidenum">
              <a:rPr lang="en-US" smtClean="0"/>
              <a:t>13</a:t>
            </a:fld>
            <a:endParaRPr lang="en-US"/>
          </a:p>
        </p:txBody>
      </p:sp>
    </p:spTree>
    <p:extLst>
      <p:ext uri="{BB962C8B-B14F-4D97-AF65-F5344CB8AC3E}">
        <p14:creationId xmlns:p14="http://schemas.microsoft.com/office/powerpoint/2010/main" val="443334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big limitation was my training data. I only collected data in two similar environments with nearly identical lighting and distance. I noticed the model performs worse when someone is significantly closer or farther from the camera than in training. A future version should include multiple distances, angles, and lighting setups so the landmark and feature distributions generalize better. Another idea is to add an on-screen guidance prompt telling the user to move closer or farther from the camera to reach the ideal detection range. Beyond that, more robust temporal models and lighting-invariant augmentation would help the system generalize to real-world meeting environments.</a:t>
            </a:r>
          </a:p>
        </p:txBody>
      </p:sp>
      <p:sp>
        <p:nvSpPr>
          <p:cNvPr id="4" name="Slide Number Placeholder 3"/>
          <p:cNvSpPr>
            <a:spLocks noGrp="1"/>
          </p:cNvSpPr>
          <p:nvPr>
            <p:ph type="sldNum" sz="quarter" idx="5"/>
          </p:nvPr>
        </p:nvSpPr>
        <p:spPr/>
        <p:txBody>
          <a:bodyPr/>
          <a:lstStyle/>
          <a:p>
            <a:fld id="{60E679F9-C96C-4D62-AB97-A26DAF2F42F8}" type="slidenum">
              <a:rPr lang="en-US" smtClean="0"/>
              <a:t>14</a:t>
            </a:fld>
            <a:endParaRPr lang="en-US"/>
          </a:p>
        </p:txBody>
      </p:sp>
    </p:spTree>
    <p:extLst>
      <p:ext uri="{BB962C8B-B14F-4D97-AF65-F5344CB8AC3E}">
        <p14:creationId xmlns:p14="http://schemas.microsoft.com/office/powerpoint/2010/main" val="2656122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lightweight model achieves strong performance with real-time CPU inference, making it practical for use inside my broader LLM-driven meeting-summarization pipeline. Balancing, augmentation, and careful feature design were key to making it work. Thanks for listening.</a:t>
            </a:r>
          </a:p>
        </p:txBody>
      </p:sp>
      <p:sp>
        <p:nvSpPr>
          <p:cNvPr id="4" name="Slide Number Placeholder 3"/>
          <p:cNvSpPr>
            <a:spLocks noGrp="1"/>
          </p:cNvSpPr>
          <p:nvPr>
            <p:ph type="sldNum" sz="quarter" idx="5"/>
          </p:nvPr>
        </p:nvSpPr>
        <p:spPr/>
        <p:txBody>
          <a:bodyPr/>
          <a:lstStyle/>
          <a:p>
            <a:fld id="{60E679F9-C96C-4D62-AB97-A26DAF2F42F8}" type="slidenum">
              <a:rPr lang="en-US" smtClean="0"/>
              <a:t>15</a:t>
            </a:fld>
            <a:endParaRPr lang="en-US"/>
          </a:p>
        </p:txBody>
      </p:sp>
    </p:spTree>
    <p:extLst>
      <p:ext uri="{BB962C8B-B14F-4D97-AF65-F5344CB8AC3E}">
        <p14:creationId xmlns:p14="http://schemas.microsoft.com/office/powerpoint/2010/main" val="2143801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E679F9-C96C-4D62-AB97-A26DAF2F42F8}" type="slidenum">
              <a:rPr lang="en-US" smtClean="0"/>
              <a:t>16</a:t>
            </a:fld>
            <a:endParaRPr lang="en-US"/>
          </a:p>
        </p:txBody>
      </p:sp>
    </p:spTree>
    <p:extLst>
      <p:ext uri="{BB962C8B-B14F-4D97-AF65-F5344CB8AC3E}">
        <p14:creationId xmlns:p14="http://schemas.microsoft.com/office/powerpoint/2010/main" val="2051270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12499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5552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68254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87295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79579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193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0058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3220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8784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21252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72903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9502755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D4175A4F-B5B9-50D2-8B97-248F04BF74E0}"/>
              </a:ext>
            </a:extLst>
          </p:cNvPr>
          <p:cNvPicPr>
            <a:picLocks noChangeAspect="1"/>
          </p:cNvPicPr>
          <p:nvPr/>
        </p:nvPicPr>
        <p:blipFill>
          <a:blip r:embed="rId3"/>
          <a:srcRect/>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7F970B7-B54A-08F7-FAAD-F62213D87474}"/>
              </a:ext>
            </a:extLst>
          </p:cNvPr>
          <p:cNvSpPr>
            <a:spLocks noGrp="1"/>
          </p:cNvSpPr>
          <p:nvPr>
            <p:ph type="ctrTitle"/>
          </p:nvPr>
        </p:nvSpPr>
        <p:spPr>
          <a:xfrm>
            <a:off x="286506" y="603315"/>
            <a:ext cx="5649211" cy="3685731"/>
          </a:xfrm>
        </p:spPr>
        <p:txBody>
          <a:bodyPr anchor="t">
            <a:normAutofit/>
          </a:bodyPr>
          <a:lstStyle/>
          <a:p>
            <a:pPr algn="l"/>
            <a:r>
              <a:rPr lang="en-US" sz="4600" dirty="0"/>
              <a:t>Lightweight Mouth Movement Detection (Talking vs Not Talking)</a:t>
            </a:r>
          </a:p>
        </p:txBody>
      </p:sp>
      <p:sp>
        <p:nvSpPr>
          <p:cNvPr id="3" name="Subtitle 2">
            <a:extLst>
              <a:ext uri="{FF2B5EF4-FFF2-40B4-BE49-F238E27FC236}">
                <a16:creationId xmlns:a16="http://schemas.microsoft.com/office/drawing/2014/main" id="{B2EDEAD8-2284-7FD6-AE6D-2143E213DDB3}"/>
              </a:ext>
            </a:extLst>
          </p:cNvPr>
          <p:cNvSpPr>
            <a:spLocks noGrp="1"/>
          </p:cNvSpPr>
          <p:nvPr>
            <p:ph type="subTitle" idx="1"/>
          </p:nvPr>
        </p:nvSpPr>
        <p:spPr>
          <a:xfrm>
            <a:off x="286507" y="4437176"/>
            <a:ext cx="4007587" cy="1290807"/>
          </a:xfrm>
        </p:spPr>
        <p:txBody>
          <a:bodyPr anchor="ctr">
            <a:normAutofit/>
          </a:bodyPr>
          <a:lstStyle/>
          <a:p>
            <a:pPr algn="l"/>
            <a:r>
              <a:rPr lang="en-US" sz="2200"/>
              <a:t>By Jack DeMarinis</a:t>
            </a:r>
          </a:p>
        </p:txBody>
      </p:sp>
    </p:spTree>
    <p:extLst>
      <p:ext uri="{BB962C8B-B14F-4D97-AF65-F5344CB8AC3E}">
        <p14:creationId xmlns:p14="http://schemas.microsoft.com/office/powerpoint/2010/main" val="85480706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93829C-EDC5-F274-5E8F-B1339759ECB4}"/>
              </a:ext>
            </a:extLst>
          </p:cNvPr>
          <p:cNvSpPr>
            <a:spLocks noGrp="1"/>
          </p:cNvSpPr>
          <p:nvPr>
            <p:ph type="title"/>
          </p:nvPr>
        </p:nvSpPr>
        <p:spPr>
          <a:xfrm>
            <a:off x="612647" y="1469134"/>
            <a:ext cx="4621553" cy="646851"/>
          </a:xfrm>
        </p:spPr>
        <p:txBody>
          <a:bodyPr anchor="b">
            <a:normAutofit/>
          </a:bodyPr>
          <a:lstStyle/>
          <a:p>
            <a:r>
              <a:rPr lang="en-US" dirty="0"/>
              <a:t>Motivation</a:t>
            </a:r>
          </a:p>
        </p:txBody>
      </p:sp>
      <p:sp>
        <p:nvSpPr>
          <p:cNvPr id="3" name="Content Placeholder 2">
            <a:extLst>
              <a:ext uri="{FF2B5EF4-FFF2-40B4-BE49-F238E27FC236}">
                <a16:creationId xmlns:a16="http://schemas.microsoft.com/office/drawing/2014/main" id="{1EAFF2D7-AD99-2346-7D52-E4E9FA1F4575}"/>
              </a:ext>
            </a:extLst>
          </p:cNvPr>
          <p:cNvSpPr>
            <a:spLocks noGrp="1"/>
          </p:cNvSpPr>
          <p:nvPr>
            <p:ph idx="1"/>
          </p:nvPr>
        </p:nvSpPr>
        <p:spPr>
          <a:xfrm>
            <a:off x="612646" y="2229848"/>
            <a:ext cx="4621553" cy="3159018"/>
          </a:xfrm>
        </p:spPr>
        <p:txBody>
          <a:bodyPr>
            <a:normAutofit/>
          </a:bodyPr>
          <a:lstStyle/>
          <a:p>
            <a:pPr marL="0" indent="0">
              <a:lnSpc>
                <a:spcPct val="110000"/>
              </a:lnSpc>
              <a:buNone/>
            </a:pPr>
            <a:r>
              <a:rPr lang="en-US" sz="1800" b="1" dirty="0"/>
              <a:t>Why visual speech detection?</a:t>
            </a:r>
          </a:p>
          <a:p>
            <a:pPr>
              <a:lnSpc>
                <a:spcPct val="110000"/>
              </a:lnSpc>
            </a:pPr>
            <a:r>
              <a:rPr lang="en-US" sz="1800" dirty="0"/>
              <a:t>Audio </a:t>
            </a:r>
            <a:r>
              <a:rPr lang="en-US" sz="1800" dirty="0" err="1"/>
              <a:t>diarization</a:t>
            </a:r>
            <a:r>
              <a:rPr lang="en-US" sz="1800" dirty="0"/>
              <a:t> fails with cheap microphones</a:t>
            </a:r>
          </a:p>
          <a:p>
            <a:pPr>
              <a:lnSpc>
                <a:spcPct val="110000"/>
              </a:lnSpc>
            </a:pPr>
            <a:r>
              <a:rPr lang="en-US" sz="1800" dirty="0"/>
              <a:t>Overlapping speech confuses STT models</a:t>
            </a:r>
          </a:p>
          <a:p>
            <a:pPr>
              <a:lnSpc>
                <a:spcPct val="110000"/>
              </a:lnSpc>
            </a:pPr>
            <a:r>
              <a:rPr lang="en-US" sz="1800" dirty="0"/>
              <a:t>Visual motion stays reliable</a:t>
            </a:r>
          </a:p>
          <a:p>
            <a:pPr>
              <a:lnSpc>
                <a:spcPct val="110000"/>
              </a:lnSpc>
            </a:pPr>
            <a:r>
              <a:rPr lang="en-US" sz="1800" dirty="0"/>
              <a:t>Needed for my LLM meeting-summary tool</a:t>
            </a:r>
          </a:p>
          <a:p>
            <a:pPr>
              <a:lnSpc>
                <a:spcPct val="110000"/>
              </a:lnSpc>
            </a:pPr>
            <a:endParaRPr lang="en-US" sz="1800" dirty="0"/>
          </a:p>
        </p:txBody>
      </p:sp>
      <p:pic>
        <p:nvPicPr>
          <p:cNvPr id="7" name="Graphic 6" descr="Radio microphone">
            <a:extLst>
              <a:ext uri="{FF2B5EF4-FFF2-40B4-BE49-F238E27FC236}">
                <a16:creationId xmlns:a16="http://schemas.microsoft.com/office/drawing/2014/main" id="{2C3BA3F5-1048-77CE-9165-5A6EEDD871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4199334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0B53A0-FC1A-5992-C878-75E4C826D394}"/>
              </a:ext>
            </a:extLst>
          </p:cNvPr>
          <p:cNvSpPr>
            <a:spLocks noGrp="1"/>
          </p:cNvSpPr>
          <p:nvPr>
            <p:ph type="title"/>
          </p:nvPr>
        </p:nvSpPr>
        <p:spPr>
          <a:xfrm>
            <a:off x="556966" y="2792776"/>
            <a:ext cx="3494314" cy="597115"/>
          </a:xfrm>
        </p:spPr>
        <p:txBody>
          <a:bodyPr anchor="t">
            <a:normAutofit/>
          </a:bodyPr>
          <a:lstStyle/>
          <a:p>
            <a:r>
              <a:rPr lang="en-US" dirty="0"/>
              <a:t>The Idea</a:t>
            </a:r>
          </a:p>
        </p:txBody>
      </p:sp>
      <p:graphicFrame>
        <p:nvGraphicFramePr>
          <p:cNvPr id="5" name="Content Placeholder 2">
            <a:extLst>
              <a:ext uri="{FF2B5EF4-FFF2-40B4-BE49-F238E27FC236}">
                <a16:creationId xmlns:a16="http://schemas.microsoft.com/office/drawing/2014/main" id="{139BAF3B-9F1E-B2EC-7DAF-B8B4191C9C66}"/>
              </a:ext>
            </a:extLst>
          </p:cNvPr>
          <p:cNvGraphicFramePr>
            <a:graphicFrameLocks noGrp="1"/>
          </p:cNvGraphicFramePr>
          <p:nvPr>
            <p:ph idx="1"/>
            <p:extLst>
              <p:ext uri="{D42A27DB-BD31-4B8C-83A1-F6EECF244321}">
                <p14:modId xmlns:p14="http://schemas.microsoft.com/office/powerpoint/2010/main" val="2933205512"/>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0BA7A48-9C86-9D16-63F1-5DF90256EB50}"/>
              </a:ext>
            </a:extLst>
          </p:cNvPr>
          <p:cNvSpPr txBox="1"/>
          <p:nvPr/>
        </p:nvSpPr>
        <p:spPr>
          <a:xfrm>
            <a:off x="634314" y="3389891"/>
            <a:ext cx="3018622" cy="923330"/>
          </a:xfrm>
          <a:prstGeom prst="rect">
            <a:avLst/>
          </a:prstGeom>
          <a:noFill/>
        </p:spPr>
        <p:txBody>
          <a:bodyPr wrap="square" rtlCol="0">
            <a:spAutoFit/>
          </a:bodyPr>
          <a:lstStyle/>
          <a:p>
            <a:pPr lvl="0"/>
            <a:r>
              <a:rPr lang="en-US" dirty="0"/>
              <a:t>Lightweight Real-Time Mouth Movement Detection</a:t>
            </a:r>
          </a:p>
        </p:txBody>
      </p:sp>
    </p:spTree>
    <p:extLst>
      <p:ext uri="{BB962C8B-B14F-4D97-AF65-F5344CB8AC3E}">
        <p14:creationId xmlns:p14="http://schemas.microsoft.com/office/powerpoint/2010/main" val="4271483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1D871-ABB2-AB76-0C8E-2EBEF0C2E0EE}"/>
              </a:ext>
            </a:extLst>
          </p:cNvPr>
          <p:cNvSpPr>
            <a:spLocks noGrp="1"/>
          </p:cNvSpPr>
          <p:nvPr>
            <p:ph type="title"/>
          </p:nvPr>
        </p:nvSpPr>
        <p:spPr/>
        <p:txBody>
          <a:bodyPr/>
          <a:lstStyle/>
          <a:p>
            <a:r>
              <a:rPr lang="en-US" dirty="0"/>
              <a:t>Processing Pipeline</a:t>
            </a:r>
          </a:p>
        </p:txBody>
      </p:sp>
      <p:sp>
        <p:nvSpPr>
          <p:cNvPr id="3" name="Content Placeholder 2">
            <a:extLst>
              <a:ext uri="{FF2B5EF4-FFF2-40B4-BE49-F238E27FC236}">
                <a16:creationId xmlns:a16="http://schemas.microsoft.com/office/drawing/2014/main" id="{B2ABFDDF-C146-D6EC-8CEB-2D14D298469C}"/>
              </a:ext>
            </a:extLst>
          </p:cNvPr>
          <p:cNvSpPr>
            <a:spLocks noGrp="1"/>
          </p:cNvSpPr>
          <p:nvPr>
            <p:ph idx="1"/>
          </p:nvPr>
        </p:nvSpPr>
        <p:spPr/>
        <p:txBody>
          <a:bodyPr/>
          <a:lstStyle/>
          <a:p>
            <a:pPr marL="0" indent="0">
              <a:buNone/>
            </a:pPr>
            <a:r>
              <a:rPr lang="en-US" b="1" dirty="0"/>
              <a:t>Full end-to-end system</a:t>
            </a:r>
          </a:p>
          <a:p>
            <a:endParaRPr lang="en-US" dirty="0"/>
          </a:p>
        </p:txBody>
      </p:sp>
      <p:pic>
        <p:nvPicPr>
          <p:cNvPr id="6" name="Picture 5" descr="A diagram of standard scale normalization&#10;&#10;AI-generated content may be incorrect.">
            <a:extLst>
              <a:ext uri="{FF2B5EF4-FFF2-40B4-BE49-F238E27FC236}">
                <a16:creationId xmlns:a16="http://schemas.microsoft.com/office/drawing/2014/main" id="{A5C4810F-10DE-1917-B272-56D4D4666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28" y="2294262"/>
            <a:ext cx="12953856" cy="3049741"/>
          </a:xfrm>
          <a:prstGeom prst="rect">
            <a:avLst/>
          </a:prstGeom>
        </p:spPr>
      </p:pic>
    </p:spTree>
    <p:extLst>
      <p:ext uri="{BB962C8B-B14F-4D97-AF65-F5344CB8AC3E}">
        <p14:creationId xmlns:p14="http://schemas.microsoft.com/office/powerpoint/2010/main" val="3634199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0A2D24-2BA4-ED9D-F8A3-D16747DA86AC}"/>
              </a:ext>
            </a:extLst>
          </p:cNvPr>
          <p:cNvSpPr>
            <a:spLocks noGrp="1"/>
          </p:cNvSpPr>
          <p:nvPr>
            <p:ph type="title"/>
          </p:nvPr>
        </p:nvSpPr>
        <p:spPr>
          <a:xfrm>
            <a:off x="5906802" y="603504"/>
            <a:ext cx="5577902" cy="1527048"/>
          </a:xfrm>
        </p:spPr>
        <p:txBody>
          <a:bodyPr anchor="b">
            <a:normAutofit/>
          </a:bodyPr>
          <a:lstStyle/>
          <a:p>
            <a:r>
              <a:rPr lang="en-US" dirty="0"/>
              <a:t>Feature Engineering</a:t>
            </a:r>
          </a:p>
        </p:txBody>
      </p:sp>
      <p:pic>
        <p:nvPicPr>
          <p:cNvPr id="5" name="Picture 4" descr="A cartoon of a mouth with teeth and a rectangular rectangle with text&#10;&#10;AI-generated content may be incorrect.">
            <a:extLst>
              <a:ext uri="{FF2B5EF4-FFF2-40B4-BE49-F238E27FC236}">
                <a16:creationId xmlns:a16="http://schemas.microsoft.com/office/drawing/2014/main" id="{00115B33-EB28-1138-1496-67AFFD7781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 y="1880740"/>
            <a:ext cx="4681506" cy="3124905"/>
          </a:xfrm>
          <a:prstGeom prst="rect">
            <a:avLst/>
          </a:prstGeom>
        </p:spPr>
      </p:pic>
      <p:sp>
        <p:nvSpPr>
          <p:cNvPr id="3" name="Content Placeholder 2">
            <a:extLst>
              <a:ext uri="{FF2B5EF4-FFF2-40B4-BE49-F238E27FC236}">
                <a16:creationId xmlns:a16="http://schemas.microsoft.com/office/drawing/2014/main" id="{46F02483-430B-F9D4-FA4F-971168E74AC0}"/>
              </a:ext>
            </a:extLst>
          </p:cNvPr>
          <p:cNvSpPr>
            <a:spLocks noGrp="1"/>
          </p:cNvSpPr>
          <p:nvPr>
            <p:ph idx="1"/>
          </p:nvPr>
        </p:nvSpPr>
        <p:spPr>
          <a:xfrm>
            <a:off x="5906802" y="2212848"/>
            <a:ext cx="5577902" cy="4096512"/>
          </a:xfrm>
        </p:spPr>
        <p:txBody>
          <a:bodyPr>
            <a:normAutofit/>
          </a:bodyPr>
          <a:lstStyle/>
          <a:p>
            <a:pPr marL="0" indent="0">
              <a:buNone/>
            </a:pPr>
            <a:r>
              <a:rPr lang="en-US" sz="1800" b="1" dirty="0"/>
              <a:t>Rich structured features</a:t>
            </a:r>
          </a:p>
          <a:p>
            <a:r>
              <a:rPr lang="en-US" sz="1800" dirty="0"/>
              <a:t>Geometry: MAR, width, height</a:t>
            </a:r>
          </a:p>
          <a:p>
            <a:r>
              <a:rPr lang="en-US" sz="1800" dirty="0"/>
              <a:t>Temporal motion differences</a:t>
            </a:r>
          </a:p>
          <a:p>
            <a:r>
              <a:rPr lang="en-US" sz="1800" dirty="0"/>
              <a:t>Pixel intensity statistics</a:t>
            </a:r>
          </a:p>
          <a:p>
            <a:r>
              <a:rPr lang="en-US" sz="1800" dirty="0"/>
              <a:t>Edge/gradient magnitudes</a:t>
            </a:r>
          </a:p>
          <a:p>
            <a:r>
              <a:rPr lang="en-US" sz="1800" dirty="0"/>
              <a:t>Normalized landmark subsets</a:t>
            </a:r>
          </a:p>
          <a:p>
            <a:endParaRPr lang="en-US" sz="1800" dirty="0"/>
          </a:p>
        </p:txBody>
      </p:sp>
    </p:spTree>
    <p:extLst>
      <p:ext uri="{BB962C8B-B14F-4D97-AF65-F5344CB8AC3E}">
        <p14:creationId xmlns:p14="http://schemas.microsoft.com/office/powerpoint/2010/main" val="36279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EC2CC-1BBB-BD56-BCDE-DE15C2FADE0A}"/>
              </a:ext>
            </a:extLst>
          </p:cNvPr>
          <p:cNvSpPr>
            <a:spLocks noGrp="1"/>
          </p:cNvSpPr>
          <p:nvPr>
            <p:ph type="title"/>
          </p:nvPr>
        </p:nvSpPr>
        <p:spPr>
          <a:xfrm>
            <a:off x="612648" y="600074"/>
            <a:ext cx="6035040" cy="1529932"/>
          </a:xfrm>
        </p:spPr>
        <p:txBody>
          <a:bodyPr anchor="b">
            <a:normAutofit/>
          </a:bodyPr>
          <a:lstStyle/>
          <a:p>
            <a:r>
              <a:rPr lang="en-US" dirty="0"/>
              <a:t>Neural Architecture</a:t>
            </a:r>
          </a:p>
        </p:txBody>
      </p:sp>
      <p:sp>
        <p:nvSpPr>
          <p:cNvPr id="3" name="Content Placeholder 2">
            <a:extLst>
              <a:ext uri="{FF2B5EF4-FFF2-40B4-BE49-F238E27FC236}">
                <a16:creationId xmlns:a16="http://schemas.microsoft.com/office/drawing/2014/main" id="{B4FF2562-0194-EE2A-658A-BF086F89053C}"/>
              </a:ext>
            </a:extLst>
          </p:cNvPr>
          <p:cNvSpPr>
            <a:spLocks noGrp="1"/>
          </p:cNvSpPr>
          <p:nvPr>
            <p:ph idx="1"/>
          </p:nvPr>
        </p:nvSpPr>
        <p:spPr>
          <a:xfrm>
            <a:off x="612647" y="2212848"/>
            <a:ext cx="6035041" cy="4096512"/>
          </a:xfrm>
        </p:spPr>
        <p:txBody>
          <a:bodyPr>
            <a:normAutofit/>
          </a:bodyPr>
          <a:lstStyle/>
          <a:p>
            <a:pPr marL="0" indent="0">
              <a:buNone/>
            </a:pPr>
            <a:r>
              <a:rPr lang="en-US" sz="1800" b="1" dirty="0"/>
              <a:t>Feedforward NN (38 → 12 → 1)</a:t>
            </a:r>
          </a:p>
          <a:p>
            <a:r>
              <a:rPr lang="en-US" sz="1800" dirty="0"/>
              <a:t>Implemented fully in NumPy</a:t>
            </a:r>
          </a:p>
          <a:p>
            <a:r>
              <a:rPr lang="en-US" sz="1800" dirty="0"/>
              <a:t>Sigmoid hidden + output layers</a:t>
            </a:r>
          </a:p>
          <a:p>
            <a:r>
              <a:rPr lang="en-US" sz="1800" dirty="0"/>
              <a:t>Weighted BCE + L2 regularization</a:t>
            </a:r>
          </a:p>
          <a:p>
            <a:r>
              <a:rPr lang="en-US" sz="1800" dirty="0"/>
              <a:t>Pos-weight improves recall</a:t>
            </a:r>
          </a:p>
          <a:p>
            <a:endParaRPr lang="en-US" sz="1800" dirty="0"/>
          </a:p>
        </p:txBody>
      </p:sp>
      <p:pic>
        <p:nvPicPr>
          <p:cNvPr id="6" name="Graphic 5">
            <a:extLst>
              <a:ext uri="{FF2B5EF4-FFF2-40B4-BE49-F238E27FC236}">
                <a16:creationId xmlns:a16="http://schemas.microsoft.com/office/drawing/2014/main" id="{AFA4A25E-26FB-A977-5F81-BFA87E5AA978}"/>
              </a:ext>
            </a:extLst>
          </p:cNvPr>
          <p:cNvPicPr>
            <a:picLocks noChangeAspect="1"/>
          </p:cNvPicPr>
          <p:nvPr/>
        </p:nvPicPr>
        <p:blipFill>
          <a:blip r:embed="rId3">
            <a:extLst>
              <a:ext uri="{96DAC541-7B7A-43D3-8B79-37D633B846F1}">
                <asvg:svgBlip xmlns:asvg="http://schemas.microsoft.com/office/drawing/2016/SVG/main" r:embed="rId4"/>
              </a:ext>
            </a:extLst>
          </a:blip>
          <a:srcRect l="40856" t="8526" r="42612" b="2674"/>
          <a:stretch>
            <a:fillRect/>
          </a:stretch>
        </p:blipFill>
        <p:spPr>
          <a:xfrm>
            <a:off x="5468882" y="-5975007"/>
            <a:ext cx="7134414" cy="19107115"/>
          </a:xfrm>
          <a:prstGeom prst="rect">
            <a:avLst/>
          </a:prstGeom>
        </p:spPr>
      </p:pic>
    </p:spTree>
    <p:extLst>
      <p:ext uri="{BB962C8B-B14F-4D97-AF65-F5344CB8AC3E}">
        <p14:creationId xmlns:p14="http://schemas.microsoft.com/office/powerpoint/2010/main" val="240062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9D717B-EFE4-D73B-7032-F21A9A498694}"/>
              </a:ext>
            </a:extLst>
          </p:cNvPr>
          <p:cNvSpPr>
            <a:spLocks noGrp="1"/>
          </p:cNvSpPr>
          <p:nvPr>
            <p:ph type="title"/>
          </p:nvPr>
        </p:nvSpPr>
        <p:spPr>
          <a:xfrm>
            <a:off x="612648" y="1114923"/>
            <a:ext cx="4621553" cy="1360728"/>
          </a:xfrm>
        </p:spPr>
        <p:txBody>
          <a:bodyPr anchor="b">
            <a:normAutofit/>
          </a:bodyPr>
          <a:lstStyle/>
          <a:p>
            <a:r>
              <a:rPr lang="en-US" dirty="0"/>
              <a:t>Dataset Overview</a:t>
            </a:r>
          </a:p>
        </p:txBody>
      </p:sp>
      <p:sp>
        <p:nvSpPr>
          <p:cNvPr id="3" name="Content Placeholder 2">
            <a:extLst>
              <a:ext uri="{FF2B5EF4-FFF2-40B4-BE49-F238E27FC236}">
                <a16:creationId xmlns:a16="http://schemas.microsoft.com/office/drawing/2014/main" id="{F6FD5CB0-FD5D-B7BB-459B-D5CA51C3588D}"/>
              </a:ext>
            </a:extLst>
          </p:cNvPr>
          <p:cNvSpPr>
            <a:spLocks noGrp="1"/>
          </p:cNvSpPr>
          <p:nvPr>
            <p:ph idx="1"/>
          </p:nvPr>
        </p:nvSpPr>
        <p:spPr>
          <a:xfrm>
            <a:off x="612648" y="2584058"/>
            <a:ext cx="4621553" cy="3159018"/>
          </a:xfrm>
        </p:spPr>
        <p:txBody>
          <a:bodyPr>
            <a:normAutofit/>
          </a:bodyPr>
          <a:lstStyle/>
          <a:p>
            <a:pPr marL="0" indent="0">
              <a:buNone/>
            </a:pPr>
            <a:r>
              <a:rPr lang="en-US" sz="1800" b="1" dirty="0"/>
              <a:t>Frame-level labeled data</a:t>
            </a:r>
          </a:p>
          <a:p>
            <a:r>
              <a:rPr lang="en-US" sz="1800" dirty="0"/>
              <a:t>Captured about 7000 webcam frames</a:t>
            </a:r>
          </a:p>
          <a:p>
            <a:r>
              <a:rPr lang="en-US" sz="1800" dirty="0"/>
              <a:t>Labels: talking (1) vs not talking (0)</a:t>
            </a:r>
          </a:p>
          <a:p>
            <a:r>
              <a:rPr lang="en-US" sz="1800" dirty="0"/>
              <a:t>Feature extraction performed per frame</a:t>
            </a:r>
          </a:p>
          <a:p>
            <a:r>
              <a:rPr lang="en-US" sz="1800" dirty="0"/>
              <a:t>Metadata stored in CSV</a:t>
            </a:r>
          </a:p>
        </p:txBody>
      </p:sp>
      <p:pic>
        <p:nvPicPr>
          <p:cNvPr id="4" name="Picture 3" descr="A person wearing glasses and a brown shirt&#10;&#10;AI-generated content may be incorrect.">
            <a:extLst>
              <a:ext uri="{FF2B5EF4-FFF2-40B4-BE49-F238E27FC236}">
                <a16:creationId xmlns:a16="http://schemas.microsoft.com/office/drawing/2014/main" id="{ACE53BCF-4423-4C52-3D52-B0FD4B1CCD98}"/>
              </a:ext>
            </a:extLst>
          </p:cNvPr>
          <p:cNvPicPr>
            <a:picLocks noChangeAspect="1"/>
          </p:cNvPicPr>
          <p:nvPr/>
        </p:nvPicPr>
        <p:blipFill>
          <a:blip r:embed="rId3"/>
          <a:stretch>
            <a:fillRect/>
          </a:stretch>
        </p:blipFill>
        <p:spPr>
          <a:xfrm>
            <a:off x="5691261" y="1239832"/>
            <a:ext cx="5837780" cy="4378335"/>
          </a:xfrm>
          <a:prstGeom prst="rect">
            <a:avLst/>
          </a:prstGeom>
          <a:effectLst>
            <a:softEdge rad="53985"/>
          </a:effectLst>
          <a:scene3d>
            <a:camera prst="orthographicFront"/>
            <a:lightRig rig="threePt" dir="t"/>
          </a:scene3d>
          <a:sp3d/>
        </p:spPr>
      </p:pic>
    </p:spTree>
    <p:extLst>
      <p:ext uri="{BB962C8B-B14F-4D97-AF65-F5344CB8AC3E}">
        <p14:creationId xmlns:p14="http://schemas.microsoft.com/office/powerpoint/2010/main" val="285367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27ABEF-0838-4E45-57A7-2D68F48F4D8F}"/>
              </a:ext>
            </a:extLst>
          </p:cNvPr>
          <p:cNvSpPr>
            <a:spLocks noGrp="1"/>
          </p:cNvSpPr>
          <p:nvPr>
            <p:ph type="title"/>
          </p:nvPr>
        </p:nvSpPr>
        <p:spPr>
          <a:xfrm>
            <a:off x="837260" y="1520327"/>
            <a:ext cx="4621553" cy="803307"/>
          </a:xfrm>
        </p:spPr>
        <p:txBody>
          <a:bodyPr anchor="b">
            <a:normAutofit/>
          </a:bodyPr>
          <a:lstStyle/>
          <a:p>
            <a:r>
              <a:rPr lang="en-US" dirty="0"/>
              <a:t>Training Setup</a:t>
            </a:r>
          </a:p>
        </p:txBody>
      </p:sp>
      <p:sp>
        <p:nvSpPr>
          <p:cNvPr id="3" name="Content Placeholder 2">
            <a:extLst>
              <a:ext uri="{FF2B5EF4-FFF2-40B4-BE49-F238E27FC236}">
                <a16:creationId xmlns:a16="http://schemas.microsoft.com/office/drawing/2014/main" id="{A3D12F8B-AD5D-F11B-53DA-74BACD706B89}"/>
              </a:ext>
            </a:extLst>
          </p:cNvPr>
          <p:cNvSpPr>
            <a:spLocks noGrp="1"/>
          </p:cNvSpPr>
          <p:nvPr>
            <p:ph idx="1"/>
          </p:nvPr>
        </p:nvSpPr>
        <p:spPr>
          <a:xfrm>
            <a:off x="837260" y="2418688"/>
            <a:ext cx="4621553" cy="3159018"/>
          </a:xfrm>
        </p:spPr>
        <p:txBody>
          <a:bodyPr>
            <a:normAutofit fontScale="92500" lnSpcReduction="10000"/>
          </a:bodyPr>
          <a:lstStyle/>
          <a:p>
            <a:pPr marL="0" indent="0">
              <a:buNone/>
            </a:pPr>
            <a:r>
              <a:rPr lang="en-US" sz="1800" b="1" dirty="0"/>
              <a:t>Full training pipeline</a:t>
            </a:r>
          </a:p>
          <a:p>
            <a:r>
              <a:rPr lang="en-US" sz="1800" dirty="0"/>
              <a:t>Stratified train/</a:t>
            </a:r>
            <a:r>
              <a:rPr lang="en-US" sz="1800" dirty="0" err="1"/>
              <a:t>val</a:t>
            </a:r>
            <a:r>
              <a:rPr lang="en-US" sz="1800" dirty="0"/>
              <a:t>/test split</a:t>
            </a:r>
          </a:p>
          <a:p>
            <a:pPr lvl="1"/>
            <a:r>
              <a:rPr lang="en-US" b="1" dirty="0"/>
              <a:t>Train:</a:t>
            </a:r>
            <a:r>
              <a:rPr lang="en-US" dirty="0"/>
              <a:t> 70%</a:t>
            </a:r>
          </a:p>
          <a:p>
            <a:pPr lvl="1"/>
            <a:r>
              <a:rPr lang="en-US" b="1" dirty="0"/>
              <a:t>Validation:</a:t>
            </a:r>
            <a:r>
              <a:rPr lang="en-US" dirty="0"/>
              <a:t> 15%</a:t>
            </a:r>
          </a:p>
          <a:p>
            <a:pPr lvl="1"/>
            <a:r>
              <a:rPr lang="en-US" b="1" dirty="0"/>
              <a:t>Test:</a:t>
            </a:r>
            <a:r>
              <a:rPr lang="en-US" dirty="0"/>
              <a:t> 15%</a:t>
            </a:r>
            <a:endParaRPr lang="en-US" sz="1400" dirty="0"/>
          </a:p>
          <a:p>
            <a:r>
              <a:rPr lang="en-US" sz="1800" dirty="0"/>
              <a:t>Early stopping on validation loss</a:t>
            </a:r>
          </a:p>
          <a:p>
            <a:r>
              <a:rPr lang="en-US" sz="1800" dirty="0"/>
              <a:t>Batch size 32, LR 0.05</a:t>
            </a:r>
          </a:p>
          <a:p>
            <a:r>
              <a:rPr lang="en-US" sz="1800" dirty="0"/>
              <a:t>Metric tracking across 200 epochs</a:t>
            </a:r>
          </a:p>
          <a:p>
            <a:endParaRPr lang="en-US" sz="1800" dirty="0"/>
          </a:p>
        </p:txBody>
      </p:sp>
      <p:pic>
        <p:nvPicPr>
          <p:cNvPr id="7" name="Graphic 6" descr="Diagnostic">
            <a:extLst>
              <a:ext uri="{FF2B5EF4-FFF2-40B4-BE49-F238E27FC236}">
                <a16:creationId xmlns:a16="http://schemas.microsoft.com/office/drawing/2014/main" id="{7BF78078-DD4B-28B6-88BC-76D3FE74CB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933397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E267A9A-3339-F8E6-CD25-1670F4B86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7C58C-E61F-BD21-3661-B6F716E060E3}"/>
              </a:ext>
            </a:extLst>
          </p:cNvPr>
          <p:cNvSpPr>
            <a:spLocks noGrp="1"/>
          </p:cNvSpPr>
          <p:nvPr>
            <p:ph type="title"/>
          </p:nvPr>
        </p:nvSpPr>
        <p:spPr>
          <a:xfrm>
            <a:off x="6642854" y="1067039"/>
            <a:ext cx="4495995" cy="1350226"/>
          </a:xfrm>
        </p:spPr>
        <p:txBody>
          <a:bodyPr anchor="b">
            <a:normAutofit/>
          </a:bodyPr>
          <a:lstStyle/>
          <a:p>
            <a:r>
              <a:rPr lang="en-US" dirty="0"/>
              <a:t>Class Imbalance</a:t>
            </a:r>
          </a:p>
        </p:txBody>
      </p:sp>
      <p:pic>
        <p:nvPicPr>
          <p:cNvPr id="6" name="Picture 5">
            <a:extLst>
              <a:ext uri="{FF2B5EF4-FFF2-40B4-BE49-F238E27FC236}">
                <a16:creationId xmlns:a16="http://schemas.microsoft.com/office/drawing/2014/main" id="{6CEBA0A4-251E-6962-7B43-093DF0C5527D}"/>
              </a:ext>
            </a:extLst>
          </p:cNvPr>
          <p:cNvPicPr>
            <a:picLocks noChangeAspect="1"/>
          </p:cNvPicPr>
          <p:nvPr/>
        </p:nvPicPr>
        <p:blipFill>
          <a:blip r:embed="rId3">
            <a:extLst>
              <a:ext uri="{28A0092B-C50C-407E-A947-70E740481C1C}">
                <a14:useLocalDpi xmlns:a14="http://schemas.microsoft.com/office/drawing/2010/main" val="0"/>
              </a:ext>
            </a:extLst>
          </a:blip>
          <a:srcRect l="322" r="323"/>
          <a:stretch>
            <a:fillRect/>
          </a:stretch>
        </p:blipFill>
        <p:spPr>
          <a:xfrm>
            <a:off x="1172675" y="1067039"/>
            <a:ext cx="4618525" cy="4648478"/>
          </a:xfrm>
          <a:prstGeom prst="rect">
            <a:avLst/>
          </a:prstGeom>
        </p:spPr>
      </p:pic>
      <p:sp>
        <p:nvSpPr>
          <p:cNvPr id="3" name="Content Placeholder 2">
            <a:extLst>
              <a:ext uri="{FF2B5EF4-FFF2-40B4-BE49-F238E27FC236}">
                <a16:creationId xmlns:a16="http://schemas.microsoft.com/office/drawing/2014/main" id="{C608F0A5-6341-3D83-79C3-F84B0367B3A3}"/>
              </a:ext>
            </a:extLst>
          </p:cNvPr>
          <p:cNvSpPr>
            <a:spLocks noGrp="1"/>
          </p:cNvSpPr>
          <p:nvPr>
            <p:ph idx="1"/>
          </p:nvPr>
        </p:nvSpPr>
        <p:spPr>
          <a:xfrm>
            <a:off x="6642854" y="2501146"/>
            <a:ext cx="4495996" cy="3214371"/>
          </a:xfrm>
        </p:spPr>
        <p:txBody>
          <a:bodyPr>
            <a:normAutofit/>
          </a:bodyPr>
          <a:lstStyle/>
          <a:p>
            <a:pPr marL="0" indent="0">
              <a:buNone/>
            </a:pPr>
            <a:r>
              <a:rPr lang="en-US" sz="1800" b="1" dirty="0"/>
              <a:t>Imbalance in collected data</a:t>
            </a:r>
          </a:p>
          <a:p>
            <a:r>
              <a:rPr lang="en-US" sz="1800" dirty="0"/>
              <a:t>More non-talking frames present</a:t>
            </a:r>
          </a:p>
          <a:p>
            <a:r>
              <a:rPr lang="en-US" sz="1800" dirty="0"/>
              <a:t>Bias pushed model toward negatives</a:t>
            </a:r>
          </a:p>
          <a:p>
            <a:r>
              <a:rPr lang="en-US" sz="1800" dirty="0"/>
              <a:t>Talking recall suffered</a:t>
            </a:r>
          </a:p>
          <a:p>
            <a:r>
              <a:rPr lang="en-US" sz="1800" dirty="0"/>
              <a:t>Required balancing strategies</a:t>
            </a:r>
          </a:p>
          <a:p>
            <a:endParaRPr lang="en-US" sz="1800" dirty="0"/>
          </a:p>
        </p:txBody>
      </p:sp>
    </p:spTree>
    <p:extLst>
      <p:ext uri="{BB962C8B-B14F-4D97-AF65-F5344CB8AC3E}">
        <p14:creationId xmlns:p14="http://schemas.microsoft.com/office/powerpoint/2010/main" val="3608283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94C9-5CE4-2212-42B6-8C2831B2769A}"/>
              </a:ext>
            </a:extLst>
          </p:cNvPr>
          <p:cNvSpPr>
            <a:spLocks noGrp="1"/>
          </p:cNvSpPr>
          <p:nvPr>
            <p:ph type="title"/>
          </p:nvPr>
        </p:nvSpPr>
        <p:spPr>
          <a:xfrm>
            <a:off x="612647" y="1700555"/>
            <a:ext cx="3860201" cy="687007"/>
          </a:xfrm>
        </p:spPr>
        <p:txBody>
          <a:bodyPr>
            <a:normAutofit fontScale="90000"/>
          </a:bodyPr>
          <a:lstStyle/>
          <a:p>
            <a:r>
              <a:rPr lang="en-US" dirty="0"/>
              <a:t>Augmentation and Weighting</a:t>
            </a:r>
          </a:p>
        </p:txBody>
      </p:sp>
      <p:sp>
        <p:nvSpPr>
          <p:cNvPr id="3" name="Content Placeholder 2">
            <a:extLst>
              <a:ext uri="{FF2B5EF4-FFF2-40B4-BE49-F238E27FC236}">
                <a16:creationId xmlns:a16="http://schemas.microsoft.com/office/drawing/2014/main" id="{AE7FEFB2-694F-5FDB-728D-941CD8B45FE2}"/>
              </a:ext>
            </a:extLst>
          </p:cNvPr>
          <p:cNvSpPr>
            <a:spLocks noGrp="1"/>
          </p:cNvSpPr>
          <p:nvPr>
            <p:ph idx="1"/>
          </p:nvPr>
        </p:nvSpPr>
        <p:spPr>
          <a:xfrm>
            <a:off x="612648" y="2784169"/>
            <a:ext cx="4134420" cy="3100814"/>
          </a:xfrm>
        </p:spPr>
        <p:txBody>
          <a:bodyPr/>
          <a:lstStyle/>
          <a:p>
            <a:pPr marL="0" indent="0">
              <a:buNone/>
            </a:pPr>
            <a:r>
              <a:rPr lang="en-US" b="1" dirty="0"/>
              <a:t>Balancing talking frames</a:t>
            </a:r>
          </a:p>
          <a:p>
            <a:r>
              <a:rPr lang="en-US" dirty="0"/>
              <a:t>Duplicated talking samples</a:t>
            </a:r>
          </a:p>
          <a:p>
            <a:pPr lvl="1"/>
            <a:r>
              <a:rPr lang="en-US" dirty="0"/>
              <a:t>Horizontal flips, color jitter</a:t>
            </a:r>
          </a:p>
          <a:p>
            <a:r>
              <a:rPr lang="en-US" dirty="0"/>
              <a:t>Weighted BCE + positive-class weighting boosted talking recall</a:t>
            </a:r>
          </a:p>
          <a:p>
            <a:r>
              <a:rPr lang="en-US" dirty="0"/>
              <a:t>Reduced class imbalance</a:t>
            </a:r>
          </a:p>
          <a:p>
            <a:endParaRPr lang="en-US" dirty="0"/>
          </a:p>
        </p:txBody>
      </p:sp>
      <p:pic>
        <p:nvPicPr>
          <p:cNvPr id="4" name="Picture 3" descr="A person wearing glasses and a brown shirt&#10;&#10;AI-generated content may be incorrect.">
            <a:extLst>
              <a:ext uri="{FF2B5EF4-FFF2-40B4-BE49-F238E27FC236}">
                <a16:creationId xmlns:a16="http://schemas.microsoft.com/office/drawing/2014/main" id="{F0EE4496-7749-C923-D2D3-34D61BAB7DA6}"/>
              </a:ext>
            </a:extLst>
          </p:cNvPr>
          <p:cNvPicPr>
            <a:picLocks noChangeAspect="1"/>
          </p:cNvPicPr>
          <p:nvPr/>
        </p:nvPicPr>
        <p:blipFill>
          <a:blip r:embed="rId3"/>
          <a:stretch>
            <a:fillRect/>
          </a:stretch>
        </p:blipFill>
        <p:spPr>
          <a:xfrm>
            <a:off x="5200578" y="3208546"/>
            <a:ext cx="4134419" cy="3100814"/>
          </a:xfrm>
          <a:prstGeom prst="rect">
            <a:avLst/>
          </a:prstGeom>
          <a:effectLst>
            <a:softEdge rad="53985"/>
          </a:effectLst>
          <a:scene3d>
            <a:camera prst="orthographicFront"/>
            <a:lightRig rig="threePt" dir="t"/>
          </a:scene3d>
          <a:sp3d/>
        </p:spPr>
      </p:pic>
      <p:pic>
        <p:nvPicPr>
          <p:cNvPr id="5" name="Picture 4" descr="A person wearing glasses and a brown shirt&#10;&#10;AI-generated content may be incorrect.">
            <a:extLst>
              <a:ext uri="{FF2B5EF4-FFF2-40B4-BE49-F238E27FC236}">
                <a16:creationId xmlns:a16="http://schemas.microsoft.com/office/drawing/2014/main" id="{997E0007-DB0D-EAE0-AA1A-C43AE21B5A47}"/>
              </a:ext>
            </a:extLst>
          </p:cNvPr>
          <p:cNvPicPr>
            <a:picLocks noChangeAspect="1"/>
          </p:cNvPicPr>
          <p:nvPr/>
        </p:nvPicPr>
        <p:blipFill>
          <a:blip r:embed="rId3"/>
          <a:stretch>
            <a:fillRect/>
          </a:stretch>
        </p:blipFill>
        <p:spPr>
          <a:xfrm flipH="1">
            <a:off x="7444934" y="690044"/>
            <a:ext cx="4134419" cy="3100815"/>
          </a:xfrm>
          <a:prstGeom prst="rect">
            <a:avLst/>
          </a:prstGeom>
          <a:effectLst>
            <a:softEdge rad="53985"/>
          </a:effectLst>
          <a:scene3d>
            <a:camera prst="orthographicFront"/>
            <a:lightRig rig="threePt" dir="t"/>
          </a:scene3d>
          <a:sp3d/>
        </p:spPr>
      </p:pic>
      <p:cxnSp>
        <p:nvCxnSpPr>
          <p:cNvPr id="9" name="Curved Connector 8">
            <a:extLst>
              <a:ext uri="{FF2B5EF4-FFF2-40B4-BE49-F238E27FC236}">
                <a16:creationId xmlns:a16="http://schemas.microsoft.com/office/drawing/2014/main" id="{703D0C12-110B-616B-642D-692B6B0AE935}"/>
              </a:ext>
            </a:extLst>
          </p:cNvPr>
          <p:cNvCxnSpPr>
            <a:cxnSpLocks/>
          </p:cNvCxnSpPr>
          <p:nvPr/>
        </p:nvCxnSpPr>
        <p:spPr>
          <a:xfrm flipV="1">
            <a:off x="9636475" y="4158244"/>
            <a:ext cx="547133" cy="594577"/>
          </a:xfrm>
          <a:prstGeom prst="curvedConnector2">
            <a:avLst/>
          </a:prstGeom>
          <a:ln w="984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374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591F-B33E-B48C-8BA8-DA89DBA20024}"/>
              </a:ext>
            </a:extLst>
          </p:cNvPr>
          <p:cNvSpPr>
            <a:spLocks noGrp="1"/>
          </p:cNvSpPr>
          <p:nvPr>
            <p:ph type="title"/>
          </p:nvPr>
        </p:nvSpPr>
        <p:spPr>
          <a:xfrm>
            <a:off x="932137" y="963687"/>
            <a:ext cx="4344943" cy="909180"/>
          </a:xfrm>
        </p:spPr>
        <p:txBody>
          <a:bodyPr/>
          <a:lstStyle/>
          <a:p>
            <a:r>
              <a:rPr lang="en-US" dirty="0"/>
              <a:t>Training Curves</a:t>
            </a:r>
          </a:p>
        </p:txBody>
      </p:sp>
      <p:sp>
        <p:nvSpPr>
          <p:cNvPr id="3" name="Content Placeholder 2">
            <a:extLst>
              <a:ext uri="{FF2B5EF4-FFF2-40B4-BE49-F238E27FC236}">
                <a16:creationId xmlns:a16="http://schemas.microsoft.com/office/drawing/2014/main" id="{EBDF4266-CB11-AF99-FC0C-28A099A42AB4}"/>
              </a:ext>
            </a:extLst>
          </p:cNvPr>
          <p:cNvSpPr>
            <a:spLocks noGrp="1"/>
          </p:cNvSpPr>
          <p:nvPr>
            <p:ph idx="1"/>
          </p:nvPr>
        </p:nvSpPr>
        <p:spPr>
          <a:xfrm>
            <a:off x="932137" y="2162535"/>
            <a:ext cx="4201724" cy="3484429"/>
          </a:xfrm>
        </p:spPr>
        <p:txBody>
          <a:bodyPr/>
          <a:lstStyle/>
          <a:p>
            <a:pPr marL="0" indent="0">
              <a:buNone/>
            </a:pPr>
            <a:r>
              <a:rPr lang="en-US" b="1" dirty="0"/>
              <a:t>Stable convergence</a:t>
            </a:r>
          </a:p>
          <a:p>
            <a:r>
              <a:rPr lang="en-US" dirty="0"/>
              <a:t>Training/validation losses aligned</a:t>
            </a:r>
          </a:p>
          <a:p>
            <a:r>
              <a:rPr lang="en-US" dirty="0"/>
              <a:t>High validation accuracy</a:t>
            </a:r>
          </a:p>
          <a:p>
            <a:r>
              <a:rPr lang="en-US" dirty="0"/>
              <a:t>No major overfitting</a:t>
            </a:r>
          </a:p>
          <a:p>
            <a:r>
              <a:rPr lang="en-US" dirty="0"/>
              <a:t>Smooth learning trajectory</a:t>
            </a:r>
          </a:p>
          <a:p>
            <a:endParaRPr lang="en-US" dirty="0"/>
          </a:p>
        </p:txBody>
      </p:sp>
      <p:pic>
        <p:nvPicPr>
          <p:cNvPr id="7" name="Picture 6">
            <a:extLst>
              <a:ext uri="{FF2B5EF4-FFF2-40B4-BE49-F238E27FC236}">
                <a16:creationId xmlns:a16="http://schemas.microsoft.com/office/drawing/2014/main" id="{F5A0F4EA-9E0D-2727-DF4D-5D251C0308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8927" y="410989"/>
            <a:ext cx="5485681" cy="3018011"/>
          </a:xfrm>
          <a:prstGeom prst="rect">
            <a:avLst/>
          </a:prstGeom>
        </p:spPr>
      </p:pic>
      <p:pic>
        <p:nvPicPr>
          <p:cNvPr id="9" name="Picture 8" descr="A graph showing the value of a stock market&#10;&#10;AI-generated content may be incorrect.">
            <a:extLst>
              <a:ext uri="{FF2B5EF4-FFF2-40B4-BE49-F238E27FC236}">
                <a16:creationId xmlns:a16="http://schemas.microsoft.com/office/drawing/2014/main" id="{EC6C365B-3E1D-9F55-8F55-C8DA33D123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8927" y="3552848"/>
            <a:ext cx="5485681" cy="3018011"/>
          </a:xfrm>
          <a:prstGeom prst="rect">
            <a:avLst/>
          </a:prstGeom>
        </p:spPr>
      </p:pic>
    </p:spTree>
    <p:extLst>
      <p:ext uri="{BB962C8B-B14F-4D97-AF65-F5344CB8AC3E}">
        <p14:creationId xmlns:p14="http://schemas.microsoft.com/office/powerpoint/2010/main" val="3500162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C3C84F-C6D1-7BF2-288C-EAC537ED3FA3}"/>
              </a:ext>
            </a:extLst>
          </p:cNvPr>
          <p:cNvSpPr>
            <a:spLocks noGrp="1"/>
          </p:cNvSpPr>
          <p:nvPr>
            <p:ph type="title"/>
          </p:nvPr>
        </p:nvSpPr>
        <p:spPr>
          <a:xfrm>
            <a:off x="634315" y="1318456"/>
            <a:ext cx="10945037" cy="1133856"/>
          </a:xfrm>
        </p:spPr>
        <p:txBody>
          <a:bodyPr anchor="t">
            <a:normAutofit/>
          </a:bodyPr>
          <a:lstStyle/>
          <a:p>
            <a:r>
              <a:rPr lang="en-US" dirty="0"/>
              <a:t>Final Metrics</a:t>
            </a:r>
          </a:p>
        </p:txBody>
      </p:sp>
      <p:graphicFrame>
        <p:nvGraphicFramePr>
          <p:cNvPr id="5" name="Content Placeholder 2">
            <a:extLst>
              <a:ext uri="{FF2B5EF4-FFF2-40B4-BE49-F238E27FC236}">
                <a16:creationId xmlns:a16="http://schemas.microsoft.com/office/drawing/2014/main" id="{54551023-7C1D-5226-099F-3B905BE4AFAE}"/>
              </a:ext>
            </a:extLst>
          </p:cNvPr>
          <p:cNvGraphicFramePr>
            <a:graphicFrameLocks noGrp="1"/>
          </p:cNvGraphicFramePr>
          <p:nvPr>
            <p:ph idx="1"/>
            <p:extLst>
              <p:ext uri="{D42A27DB-BD31-4B8C-83A1-F6EECF244321}">
                <p14:modId xmlns:p14="http://schemas.microsoft.com/office/powerpoint/2010/main" val="1975554767"/>
              </p:ext>
            </p:extLst>
          </p:nvPr>
        </p:nvGraphicFramePr>
        <p:xfrm>
          <a:off x="453031" y="1885384"/>
          <a:ext cx="11461839"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8280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A4120-94AA-0A62-582E-FF20932FCE4D}"/>
              </a:ext>
            </a:extLst>
          </p:cNvPr>
          <p:cNvSpPr>
            <a:spLocks noGrp="1"/>
          </p:cNvSpPr>
          <p:nvPr>
            <p:ph type="title"/>
          </p:nvPr>
        </p:nvSpPr>
        <p:spPr/>
        <p:txBody>
          <a:bodyPr/>
          <a:lstStyle/>
          <a:p>
            <a:r>
              <a:rPr lang="en-US" dirty="0"/>
              <a:t>Testing</a:t>
            </a:r>
          </a:p>
        </p:txBody>
      </p:sp>
      <p:pic>
        <p:nvPicPr>
          <p:cNvPr id="4" name="Picture 3">
            <a:extLst>
              <a:ext uri="{FF2B5EF4-FFF2-40B4-BE49-F238E27FC236}">
                <a16:creationId xmlns:a16="http://schemas.microsoft.com/office/drawing/2014/main" id="{619DD62B-160B-E887-E138-5D5A5822ACC7}"/>
              </a:ext>
            </a:extLst>
          </p:cNvPr>
          <p:cNvPicPr>
            <a:picLocks noChangeAspect="1"/>
          </p:cNvPicPr>
          <p:nvPr/>
        </p:nvPicPr>
        <p:blipFill>
          <a:blip r:embed="rId3"/>
          <a:stretch>
            <a:fillRect/>
          </a:stretch>
        </p:blipFill>
        <p:spPr>
          <a:xfrm>
            <a:off x="487329" y="1715532"/>
            <a:ext cx="5330921" cy="3993149"/>
          </a:xfrm>
          <a:prstGeom prst="rect">
            <a:avLst/>
          </a:prstGeom>
        </p:spPr>
      </p:pic>
      <p:pic>
        <p:nvPicPr>
          <p:cNvPr id="5" name="Picture 4">
            <a:extLst>
              <a:ext uri="{FF2B5EF4-FFF2-40B4-BE49-F238E27FC236}">
                <a16:creationId xmlns:a16="http://schemas.microsoft.com/office/drawing/2014/main" id="{2F730681-2ADB-5208-A328-2F04D311BFC5}"/>
              </a:ext>
            </a:extLst>
          </p:cNvPr>
          <p:cNvPicPr>
            <a:picLocks noChangeAspect="1"/>
          </p:cNvPicPr>
          <p:nvPr/>
        </p:nvPicPr>
        <p:blipFill>
          <a:blip r:embed="rId4"/>
          <a:stretch>
            <a:fillRect/>
          </a:stretch>
        </p:blipFill>
        <p:spPr>
          <a:xfrm>
            <a:off x="6237259" y="1723884"/>
            <a:ext cx="5330922" cy="3984797"/>
          </a:xfrm>
          <a:prstGeom prst="rect">
            <a:avLst/>
          </a:prstGeom>
        </p:spPr>
      </p:pic>
    </p:spTree>
    <p:extLst>
      <p:ext uri="{BB962C8B-B14F-4D97-AF65-F5344CB8AC3E}">
        <p14:creationId xmlns:p14="http://schemas.microsoft.com/office/powerpoint/2010/main" val="3613213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47D150-FBB9-FA6B-BFBD-D9403A53834F}"/>
              </a:ext>
            </a:extLst>
          </p:cNvPr>
          <p:cNvSpPr>
            <a:spLocks noGrp="1"/>
          </p:cNvSpPr>
          <p:nvPr>
            <p:ph type="title"/>
          </p:nvPr>
        </p:nvSpPr>
        <p:spPr>
          <a:xfrm>
            <a:off x="612648" y="603504"/>
            <a:ext cx="5862396" cy="1527048"/>
          </a:xfrm>
        </p:spPr>
        <p:txBody>
          <a:bodyPr anchor="b">
            <a:normAutofit/>
          </a:bodyPr>
          <a:lstStyle/>
          <a:p>
            <a:r>
              <a:rPr lang="en-US" dirty="0"/>
              <a:t>Challenges &amp; Future Work</a:t>
            </a:r>
          </a:p>
        </p:txBody>
      </p:sp>
      <p:sp>
        <p:nvSpPr>
          <p:cNvPr id="3" name="Content Placeholder 2">
            <a:extLst>
              <a:ext uri="{FF2B5EF4-FFF2-40B4-BE49-F238E27FC236}">
                <a16:creationId xmlns:a16="http://schemas.microsoft.com/office/drawing/2014/main" id="{9C32B99D-B1E3-4573-3EAF-64FC80DB28FE}"/>
              </a:ext>
            </a:extLst>
          </p:cNvPr>
          <p:cNvSpPr>
            <a:spLocks noGrp="1"/>
          </p:cNvSpPr>
          <p:nvPr>
            <p:ph idx="1"/>
          </p:nvPr>
        </p:nvSpPr>
        <p:spPr>
          <a:xfrm>
            <a:off x="612648" y="2212848"/>
            <a:ext cx="5862396" cy="4096512"/>
          </a:xfrm>
        </p:spPr>
        <p:txBody>
          <a:bodyPr>
            <a:normAutofit/>
          </a:bodyPr>
          <a:lstStyle/>
          <a:p>
            <a:pPr marL="0" indent="0">
              <a:buNone/>
            </a:pPr>
            <a:r>
              <a:rPr lang="en-US" sz="1800" b="1" dirty="0"/>
              <a:t>Improvement opportunities</a:t>
            </a:r>
          </a:p>
          <a:p>
            <a:r>
              <a:rPr lang="en-US" sz="1800" dirty="0"/>
              <a:t>Landmark failures at large angles</a:t>
            </a:r>
          </a:p>
          <a:p>
            <a:r>
              <a:rPr lang="en-US" sz="1800" dirty="0"/>
              <a:t>Low-light sensitivity remains</a:t>
            </a:r>
          </a:p>
          <a:p>
            <a:r>
              <a:rPr lang="en-US" sz="1800" dirty="0"/>
              <a:t>Training data had only two lighting/range setups</a:t>
            </a:r>
          </a:p>
          <a:p>
            <a:r>
              <a:rPr lang="en-US" sz="1800" dirty="0"/>
              <a:t>Need multi-range, multi-lighting data</a:t>
            </a:r>
          </a:p>
          <a:p>
            <a:r>
              <a:rPr lang="en-US" sz="1800" dirty="0"/>
              <a:t>Add on-screen prompts for ideal distance/angle</a:t>
            </a:r>
          </a:p>
          <a:p>
            <a:r>
              <a:rPr lang="en-US" sz="1800" dirty="0"/>
              <a:t>Use different configurations</a:t>
            </a:r>
          </a:p>
          <a:p>
            <a:endParaRPr lang="en-US" sz="1800" dirty="0"/>
          </a:p>
        </p:txBody>
      </p:sp>
      <p:pic>
        <p:nvPicPr>
          <p:cNvPr id="7" name="Graphic 6" descr="Lightbulb">
            <a:extLst>
              <a:ext uri="{FF2B5EF4-FFF2-40B4-BE49-F238E27FC236}">
                <a16:creationId xmlns:a16="http://schemas.microsoft.com/office/drawing/2014/main" id="{D221DF42-14AB-140D-9C9F-A11A5C49DAD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555856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37FC3-1BC8-5570-AF3B-D07E0701815C}"/>
              </a:ext>
            </a:extLst>
          </p:cNvPr>
          <p:cNvSpPr>
            <a:spLocks noGrp="1"/>
          </p:cNvSpPr>
          <p:nvPr>
            <p:ph type="title"/>
          </p:nvPr>
        </p:nvSpPr>
        <p:spPr>
          <a:xfrm>
            <a:off x="612648" y="1727445"/>
            <a:ext cx="4124605" cy="696266"/>
          </a:xfrm>
        </p:spPr>
        <p:txBody>
          <a:bodyPr/>
          <a:lstStyle/>
          <a:p>
            <a:r>
              <a:rPr lang="en-US" dirty="0"/>
              <a:t>Conclusion</a:t>
            </a:r>
          </a:p>
        </p:txBody>
      </p:sp>
      <p:sp>
        <p:nvSpPr>
          <p:cNvPr id="3" name="Content Placeholder 2">
            <a:extLst>
              <a:ext uri="{FF2B5EF4-FFF2-40B4-BE49-F238E27FC236}">
                <a16:creationId xmlns:a16="http://schemas.microsoft.com/office/drawing/2014/main" id="{AB07BA72-37D5-C104-0EB2-3C34BE5A030D}"/>
              </a:ext>
            </a:extLst>
          </p:cNvPr>
          <p:cNvSpPr>
            <a:spLocks noGrp="1"/>
          </p:cNvSpPr>
          <p:nvPr>
            <p:ph idx="1"/>
          </p:nvPr>
        </p:nvSpPr>
        <p:spPr>
          <a:xfrm>
            <a:off x="612648" y="2563831"/>
            <a:ext cx="5567816" cy="2713249"/>
          </a:xfrm>
        </p:spPr>
        <p:txBody>
          <a:bodyPr/>
          <a:lstStyle/>
          <a:p>
            <a:pPr marL="0" indent="0">
              <a:buNone/>
            </a:pPr>
            <a:r>
              <a:rPr lang="en-US" b="1"/>
              <a:t>Summary</a:t>
            </a:r>
          </a:p>
          <a:p>
            <a:r>
              <a:rPr lang="en-US"/>
              <a:t>Lightweight and fast classifier</a:t>
            </a:r>
          </a:p>
          <a:p>
            <a:r>
              <a:rPr lang="en-US"/>
              <a:t>Strong test metrics</a:t>
            </a:r>
          </a:p>
          <a:p>
            <a:r>
              <a:rPr lang="en-US"/>
              <a:t>Real-time CPU inference</a:t>
            </a:r>
          </a:p>
          <a:p>
            <a:r>
              <a:rPr lang="en-US"/>
              <a:t>Practical module for diarization pipelines</a:t>
            </a:r>
          </a:p>
          <a:p>
            <a:endParaRPr lang="en-US" dirty="0"/>
          </a:p>
        </p:txBody>
      </p:sp>
    </p:spTree>
    <p:extLst>
      <p:ext uri="{BB962C8B-B14F-4D97-AF65-F5344CB8AC3E}">
        <p14:creationId xmlns:p14="http://schemas.microsoft.com/office/powerpoint/2010/main" val="3236299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314219D-978A-FF49-9079-573BCC4FA9E4}"/>
              </a:ext>
            </a:extLst>
          </p:cNvPr>
          <p:cNvGraphicFramePr>
            <a:graphicFrameLocks noGrp="1"/>
          </p:cNvGraphicFramePr>
          <p:nvPr>
            <p:ph idx="1"/>
            <p:extLst>
              <p:ext uri="{D42A27DB-BD31-4B8C-83A1-F6EECF244321}">
                <p14:modId xmlns:p14="http://schemas.microsoft.com/office/powerpoint/2010/main" val="953249878"/>
              </p:ext>
            </p:extLst>
          </p:nvPr>
        </p:nvGraphicFramePr>
        <p:xfrm>
          <a:off x="928325" y="1680898"/>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949124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1115</Words>
  <Application>Microsoft Macintosh PowerPoint</Application>
  <PresentationFormat>Widescreen</PresentationFormat>
  <Paragraphs>117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Neue Haas Grotesk Text Pro</vt:lpstr>
      <vt:lpstr>VanillaVTI</vt:lpstr>
      <vt:lpstr>Lightweight Mouth Movement Detection (Talking vs Not Talking)</vt:lpstr>
      <vt:lpstr>Motivation</vt:lpstr>
      <vt:lpstr>The Idea</vt:lpstr>
      <vt:lpstr>Processing Pipeline</vt:lpstr>
      <vt:lpstr>Feature Engineering</vt:lpstr>
      <vt:lpstr>Neural Architecture</vt:lpstr>
      <vt:lpstr>Dataset Overview</vt:lpstr>
      <vt:lpstr>Training Setup</vt:lpstr>
      <vt:lpstr>Class Imbalance</vt:lpstr>
      <vt:lpstr>Augmentation and Weighting</vt:lpstr>
      <vt:lpstr>Training Curves</vt:lpstr>
      <vt:lpstr>Final Metrics</vt:lpstr>
      <vt:lpstr>Testing</vt:lpstr>
      <vt:lpstr>Challenges &amp; Future Work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 DeMarinis</dc:creator>
  <cp:lastModifiedBy>Jack DeMarinis</cp:lastModifiedBy>
  <cp:revision>3</cp:revision>
  <dcterms:created xsi:type="dcterms:W3CDTF">2025-12-02T04:09:14Z</dcterms:created>
  <dcterms:modified xsi:type="dcterms:W3CDTF">2025-12-02T20:45:19Z</dcterms:modified>
</cp:coreProperties>
</file>